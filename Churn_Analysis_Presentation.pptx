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61" r:id="rId3"/>
    <p:sldId id="285" r:id="rId4"/>
    <p:sldId id="281" r:id="rId5"/>
    <p:sldId id="280" r:id="rId6"/>
    <p:sldId id="263" r:id="rId7"/>
    <p:sldId id="279" r:id="rId8"/>
    <p:sldId id="283" r:id="rId9"/>
    <p:sldId id="282" r:id="rId10"/>
    <p:sldId id="284" r:id="rId11"/>
    <p:sldId id="264" r:id="rId12"/>
    <p:sldId id="265" r:id="rId13"/>
    <p:sldId id="267" r:id="rId14"/>
    <p:sldId id="268" r:id="rId15"/>
    <p:sldId id="269" r:id="rId16"/>
    <p:sldId id="276" r:id="rId17"/>
    <p:sldId id="270" r:id="rId18"/>
    <p:sldId id="272" r:id="rId19"/>
    <p:sldId id="273" r:id="rId20"/>
    <p:sldId id="277" r:id="rId21"/>
    <p:sldId id="275"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7093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60" autoAdjust="0"/>
  </p:normalViewPr>
  <p:slideViewPr>
    <p:cSldViewPr snapToGrid="0" snapToObjects="1">
      <p:cViewPr varScale="1">
        <p:scale>
          <a:sx n="78" d="100"/>
          <a:sy n="78" d="100"/>
        </p:scale>
        <p:origin x="1594" y="62"/>
      </p:cViewPr>
      <p:guideLst>
        <p:guide orient="horz" pos="2160"/>
        <p:guide pos="2880"/>
      </p:guideLst>
    </p:cSldViewPr>
  </p:slideViewPr>
  <p:outlineViewPr>
    <p:cViewPr>
      <p:scale>
        <a:sx n="33" d="100"/>
        <a:sy n="33" d="100"/>
      </p:scale>
      <p:origin x="0" y="-696"/>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62" d="100"/>
          <a:sy n="62" d="100"/>
        </p:scale>
        <p:origin x="3226" y="7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dumbi Kimani" userId="feaf20e413cf907e" providerId="LiveId" clId="{F505595F-0E85-498C-9F44-DE88045B60D4}"/>
    <pc:docChg chg="undo custSel addSld delSld modSld sldOrd">
      <pc:chgData name="Ndumbi Kimani" userId="feaf20e413cf907e" providerId="LiveId" clId="{F505595F-0E85-498C-9F44-DE88045B60D4}" dt="2024-10-28T11:37:49.500" v="1288" actId="20577"/>
      <pc:docMkLst>
        <pc:docMk/>
      </pc:docMkLst>
      <pc:sldChg chg="addSp delSp modSp mod">
        <pc:chgData name="Ndumbi Kimani" userId="feaf20e413cf907e" providerId="LiveId" clId="{F505595F-0E85-498C-9F44-DE88045B60D4}" dt="2024-10-28T07:01:51.209" v="244" actId="1076"/>
        <pc:sldMkLst>
          <pc:docMk/>
          <pc:sldMk cId="0" sldId="256"/>
        </pc:sldMkLst>
        <pc:spChg chg="del mod">
          <ac:chgData name="Ndumbi Kimani" userId="feaf20e413cf907e" providerId="LiveId" clId="{F505595F-0E85-498C-9F44-DE88045B60D4}" dt="2024-10-28T06:57:14.858" v="150" actId="478"/>
          <ac:spMkLst>
            <pc:docMk/>
            <pc:sldMk cId="0" sldId="256"/>
            <ac:spMk id="2" creationId="{00000000-0000-0000-0000-000000000000}"/>
          </ac:spMkLst>
        </pc:spChg>
        <pc:spChg chg="del mod">
          <ac:chgData name="Ndumbi Kimani" userId="feaf20e413cf907e" providerId="LiveId" clId="{F505595F-0E85-498C-9F44-DE88045B60D4}" dt="2024-10-28T06:57:57.534" v="160" actId="478"/>
          <ac:spMkLst>
            <pc:docMk/>
            <pc:sldMk cId="0" sldId="256"/>
            <ac:spMk id="3" creationId="{00000000-0000-0000-0000-000000000000}"/>
          </ac:spMkLst>
        </pc:spChg>
        <pc:spChg chg="add mod">
          <ac:chgData name="Ndumbi Kimani" userId="feaf20e413cf907e" providerId="LiveId" clId="{F505595F-0E85-498C-9F44-DE88045B60D4}" dt="2024-10-28T06:57:53.636" v="159"/>
          <ac:spMkLst>
            <pc:docMk/>
            <pc:sldMk cId="0" sldId="256"/>
            <ac:spMk id="6" creationId="{E2C6CA32-3FE0-1321-6195-43567E435813}"/>
          </ac:spMkLst>
        </pc:spChg>
        <pc:spChg chg="add mod">
          <ac:chgData name="Ndumbi Kimani" userId="feaf20e413cf907e" providerId="LiveId" clId="{F505595F-0E85-498C-9F44-DE88045B60D4}" dt="2024-10-28T07:01:51.209" v="244" actId="1076"/>
          <ac:spMkLst>
            <pc:docMk/>
            <pc:sldMk cId="0" sldId="256"/>
            <ac:spMk id="7" creationId="{8BDBD6E5-DB37-3FB2-0B20-3C4905FD1D0A}"/>
          </ac:spMkLst>
        </pc:spChg>
        <pc:picChg chg="add mod">
          <ac:chgData name="Ndumbi Kimani" userId="feaf20e413cf907e" providerId="LiveId" clId="{F505595F-0E85-498C-9F44-DE88045B60D4}" dt="2024-10-28T07:00:19.649" v="210" actId="1076"/>
          <ac:picMkLst>
            <pc:docMk/>
            <pc:sldMk cId="0" sldId="256"/>
            <ac:picMk id="5" creationId="{35C4B843-0D76-2CB2-A41C-D2F6DEA1D842}"/>
          </ac:picMkLst>
        </pc:picChg>
      </pc:sldChg>
      <pc:sldChg chg="delSp modSp del mod">
        <pc:chgData name="Ndumbi Kimani" userId="feaf20e413cf907e" providerId="LiveId" clId="{F505595F-0E85-498C-9F44-DE88045B60D4}" dt="2024-10-28T07:37:40.869" v="554" actId="2696"/>
        <pc:sldMkLst>
          <pc:docMk/>
          <pc:sldMk cId="0" sldId="257"/>
        </pc:sldMkLst>
        <pc:spChg chg="mod">
          <ac:chgData name="Ndumbi Kimani" userId="feaf20e413cf907e" providerId="LiveId" clId="{F505595F-0E85-498C-9F44-DE88045B60D4}" dt="2024-10-28T06:49:40.566" v="88" actId="27636"/>
          <ac:spMkLst>
            <pc:docMk/>
            <pc:sldMk cId="0" sldId="257"/>
            <ac:spMk id="2" creationId="{00000000-0000-0000-0000-000000000000}"/>
          </ac:spMkLst>
        </pc:spChg>
        <pc:picChg chg="del mod">
          <ac:chgData name="Ndumbi Kimani" userId="feaf20e413cf907e" providerId="LiveId" clId="{F505595F-0E85-498C-9F44-DE88045B60D4}" dt="2024-10-28T07:33:31.431" v="515" actId="21"/>
          <ac:picMkLst>
            <pc:docMk/>
            <pc:sldMk cId="0" sldId="257"/>
            <ac:picMk id="4" creationId="{00000000-0000-0000-0000-000000000000}"/>
          </ac:picMkLst>
        </pc:picChg>
      </pc:sldChg>
      <pc:sldChg chg="modSp del mod">
        <pc:chgData name="Ndumbi Kimani" userId="feaf20e413cf907e" providerId="LiveId" clId="{F505595F-0E85-498C-9F44-DE88045B60D4}" dt="2024-10-28T07:40:08.878" v="583" actId="2696"/>
        <pc:sldMkLst>
          <pc:docMk/>
          <pc:sldMk cId="0" sldId="258"/>
        </pc:sldMkLst>
        <pc:spChg chg="mod">
          <ac:chgData name="Ndumbi Kimani" userId="feaf20e413cf907e" providerId="LiveId" clId="{F505595F-0E85-498C-9F44-DE88045B60D4}" dt="2024-10-28T06:49:40.578" v="89" actId="27636"/>
          <ac:spMkLst>
            <pc:docMk/>
            <pc:sldMk cId="0" sldId="258"/>
            <ac:spMk id="2" creationId="{00000000-0000-0000-0000-000000000000}"/>
          </ac:spMkLst>
        </pc:spChg>
        <pc:picChg chg="mod">
          <ac:chgData name="Ndumbi Kimani" userId="feaf20e413cf907e" providerId="LiveId" clId="{F505595F-0E85-498C-9F44-DE88045B60D4}" dt="2024-10-28T07:37:37.751" v="553" actId="1076"/>
          <ac:picMkLst>
            <pc:docMk/>
            <pc:sldMk cId="0" sldId="258"/>
            <ac:picMk id="4" creationId="{00000000-0000-0000-0000-000000000000}"/>
          </ac:picMkLst>
        </pc:picChg>
      </pc:sldChg>
      <pc:sldChg chg="modSp del mod">
        <pc:chgData name="Ndumbi Kimani" userId="feaf20e413cf907e" providerId="LiveId" clId="{F505595F-0E85-498C-9F44-DE88045B60D4}" dt="2024-10-28T07:44:01.726" v="585" actId="2696"/>
        <pc:sldMkLst>
          <pc:docMk/>
          <pc:sldMk cId="0" sldId="259"/>
        </pc:sldMkLst>
        <pc:spChg chg="mod">
          <ac:chgData name="Ndumbi Kimani" userId="feaf20e413cf907e" providerId="LiveId" clId="{F505595F-0E85-498C-9F44-DE88045B60D4}" dt="2024-10-28T06:49:40.587" v="90" actId="27636"/>
          <ac:spMkLst>
            <pc:docMk/>
            <pc:sldMk cId="0" sldId="259"/>
            <ac:spMk id="2" creationId="{00000000-0000-0000-0000-000000000000}"/>
          </ac:spMkLst>
        </pc:spChg>
        <pc:picChg chg="mod">
          <ac:chgData name="Ndumbi Kimani" userId="feaf20e413cf907e" providerId="LiveId" clId="{F505595F-0E85-498C-9F44-DE88045B60D4}" dt="2024-10-28T07:40:56.228" v="584" actId="14100"/>
          <ac:picMkLst>
            <pc:docMk/>
            <pc:sldMk cId="0" sldId="259"/>
            <ac:picMk id="4" creationId="{00000000-0000-0000-0000-000000000000}"/>
          </ac:picMkLst>
        </pc:picChg>
      </pc:sldChg>
      <pc:sldChg chg="del">
        <pc:chgData name="Ndumbi Kimani" userId="feaf20e413cf907e" providerId="LiveId" clId="{F505595F-0E85-498C-9F44-DE88045B60D4}" dt="2024-10-28T07:55:22.917" v="610" actId="2696"/>
        <pc:sldMkLst>
          <pc:docMk/>
          <pc:sldMk cId="0" sldId="260"/>
        </pc:sldMkLst>
      </pc:sldChg>
      <pc:sldChg chg="addSp modSp new mod">
        <pc:chgData name="Ndumbi Kimani" userId="feaf20e413cf907e" providerId="LiveId" clId="{F505595F-0E85-498C-9F44-DE88045B60D4}" dt="2024-10-28T09:33:38.599" v="659" actId="14100"/>
        <pc:sldMkLst>
          <pc:docMk/>
          <pc:sldMk cId="2535465322" sldId="261"/>
        </pc:sldMkLst>
        <pc:spChg chg="mod">
          <ac:chgData name="Ndumbi Kimani" userId="feaf20e413cf907e" providerId="LiveId" clId="{F505595F-0E85-498C-9F44-DE88045B60D4}" dt="2024-10-28T09:33:38.165" v="658" actId="14100"/>
          <ac:spMkLst>
            <pc:docMk/>
            <pc:sldMk cId="2535465322" sldId="261"/>
            <ac:spMk id="2" creationId="{00D95D6A-0BA7-DF49-FB34-E9249DF4B530}"/>
          </ac:spMkLst>
        </pc:spChg>
        <pc:spChg chg="mod">
          <ac:chgData name="Ndumbi Kimani" userId="feaf20e413cf907e" providerId="LiveId" clId="{F505595F-0E85-498C-9F44-DE88045B60D4}" dt="2024-10-28T09:33:38.599" v="659" actId="14100"/>
          <ac:spMkLst>
            <pc:docMk/>
            <pc:sldMk cId="2535465322" sldId="261"/>
            <ac:spMk id="3" creationId="{A9D1D38B-9FA5-1225-8F5F-C21BF4C9DF80}"/>
          </ac:spMkLst>
        </pc:spChg>
        <pc:spChg chg="add mod">
          <ac:chgData name="Ndumbi Kimani" userId="feaf20e413cf907e" providerId="LiveId" clId="{F505595F-0E85-498C-9F44-DE88045B60D4}" dt="2024-10-28T06:49:38.706" v="87" actId="27636"/>
          <ac:spMkLst>
            <pc:docMk/>
            <pc:sldMk cId="2535465322" sldId="261"/>
            <ac:spMk id="4" creationId="{D89A460B-0A9F-6C49-683F-BC1F5129CB2B}"/>
          </ac:spMkLst>
        </pc:spChg>
      </pc:sldChg>
      <pc:sldChg chg="modSp add mod">
        <pc:chgData name="Ndumbi Kimani" userId="feaf20e413cf907e" providerId="LiveId" clId="{F505595F-0E85-498C-9F44-DE88045B60D4}" dt="2024-10-28T06:53:54.048" v="133" actId="20577"/>
        <pc:sldMkLst>
          <pc:docMk/>
          <pc:sldMk cId="2962079826" sldId="262"/>
        </pc:sldMkLst>
        <pc:spChg chg="mod">
          <ac:chgData name="Ndumbi Kimani" userId="feaf20e413cf907e" providerId="LiveId" clId="{F505595F-0E85-498C-9F44-DE88045B60D4}" dt="2024-10-28T06:53:54.048" v="133" actId="20577"/>
          <ac:spMkLst>
            <pc:docMk/>
            <pc:sldMk cId="2962079826" sldId="262"/>
            <ac:spMk id="2" creationId="{3B7D1F50-ADA3-20CC-FC3D-5FAF3F9272A6}"/>
          </ac:spMkLst>
        </pc:spChg>
        <pc:spChg chg="mod">
          <ac:chgData name="Ndumbi Kimani" userId="feaf20e413cf907e" providerId="LiveId" clId="{F505595F-0E85-498C-9F44-DE88045B60D4}" dt="2024-10-28T06:53:47.321" v="117" actId="255"/>
          <ac:spMkLst>
            <pc:docMk/>
            <pc:sldMk cId="2962079826" sldId="262"/>
            <ac:spMk id="3" creationId="{10819639-B10E-0D25-D229-FA868F77FB91}"/>
          </ac:spMkLst>
        </pc:spChg>
      </pc:sldChg>
      <pc:sldChg chg="modSp add mod">
        <pc:chgData name="Ndumbi Kimani" userId="feaf20e413cf907e" providerId="LiveId" clId="{F505595F-0E85-498C-9F44-DE88045B60D4}" dt="2024-10-28T07:29:30.843" v="512" actId="14100"/>
        <pc:sldMkLst>
          <pc:docMk/>
          <pc:sldMk cId="4021080219" sldId="263"/>
        </pc:sldMkLst>
        <pc:spChg chg="mod">
          <ac:chgData name="Ndumbi Kimani" userId="feaf20e413cf907e" providerId="LiveId" clId="{F505595F-0E85-498C-9F44-DE88045B60D4}" dt="2024-10-28T07:11:20.076" v="280" actId="20577"/>
          <ac:spMkLst>
            <pc:docMk/>
            <pc:sldMk cId="4021080219" sldId="263"/>
            <ac:spMk id="2" creationId="{9207AE6A-9E79-1B80-1208-615DEDC6798E}"/>
          </ac:spMkLst>
        </pc:spChg>
        <pc:spChg chg="mod">
          <ac:chgData name="Ndumbi Kimani" userId="feaf20e413cf907e" providerId="LiveId" clId="{F505595F-0E85-498C-9F44-DE88045B60D4}" dt="2024-10-28T07:29:30.843" v="512" actId="14100"/>
          <ac:spMkLst>
            <pc:docMk/>
            <pc:sldMk cId="4021080219" sldId="263"/>
            <ac:spMk id="3" creationId="{AF471212-2A63-DEBE-AA9D-0237464CA0A9}"/>
          </ac:spMkLst>
        </pc:spChg>
      </pc:sldChg>
      <pc:sldChg chg="modSp add mod">
        <pc:chgData name="Ndumbi Kimani" userId="feaf20e413cf907e" providerId="LiveId" clId="{F505595F-0E85-498C-9F44-DE88045B60D4}" dt="2024-10-28T07:29:16.988" v="511" actId="14100"/>
        <pc:sldMkLst>
          <pc:docMk/>
          <pc:sldMk cId="1700921541" sldId="264"/>
        </pc:sldMkLst>
        <pc:spChg chg="mod">
          <ac:chgData name="Ndumbi Kimani" userId="feaf20e413cf907e" providerId="LiveId" clId="{F505595F-0E85-498C-9F44-DE88045B60D4}" dt="2024-10-28T07:14:34.214" v="382" actId="20577"/>
          <ac:spMkLst>
            <pc:docMk/>
            <pc:sldMk cId="1700921541" sldId="264"/>
            <ac:spMk id="2" creationId="{11C9476E-D764-7A63-2B0B-254B7DE12AD2}"/>
          </ac:spMkLst>
        </pc:spChg>
        <pc:spChg chg="mod">
          <ac:chgData name="Ndumbi Kimani" userId="feaf20e413cf907e" providerId="LiveId" clId="{F505595F-0E85-498C-9F44-DE88045B60D4}" dt="2024-10-28T07:29:16.988" v="511" actId="14100"/>
          <ac:spMkLst>
            <pc:docMk/>
            <pc:sldMk cId="1700921541" sldId="264"/>
            <ac:spMk id="3" creationId="{A9B712B7-8D56-CDF7-946F-609410BE0373}"/>
          </ac:spMkLst>
        </pc:spChg>
      </pc:sldChg>
      <pc:sldChg chg="modSp add mod">
        <pc:chgData name="Ndumbi Kimani" userId="feaf20e413cf907e" providerId="LiveId" clId="{F505595F-0E85-498C-9F44-DE88045B60D4}" dt="2024-10-28T07:29:09.177" v="510" actId="14100"/>
        <pc:sldMkLst>
          <pc:docMk/>
          <pc:sldMk cId="2439271521" sldId="265"/>
        </pc:sldMkLst>
        <pc:spChg chg="mod">
          <ac:chgData name="Ndumbi Kimani" userId="feaf20e413cf907e" providerId="LiveId" clId="{F505595F-0E85-498C-9F44-DE88045B60D4}" dt="2024-10-28T07:27:42.081" v="478" actId="20577"/>
          <ac:spMkLst>
            <pc:docMk/>
            <pc:sldMk cId="2439271521" sldId="265"/>
            <ac:spMk id="2" creationId="{DA8C6808-0098-1992-3619-A295F51D01AA}"/>
          </ac:spMkLst>
        </pc:spChg>
        <pc:spChg chg="mod">
          <ac:chgData name="Ndumbi Kimani" userId="feaf20e413cf907e" providerId="LiveId" clId="{F505595F-0E85-498C-9F44-DE88045B60D4}" dt="2024-10-28T07:29:09.177" v="510" actId="14100"/>
          <ac:spMkLst>
            <pc:docMk/>
            <pc:sldMk cId="2439271521" sldId="265"/>
            <ac:spMk id="3" creationId="{A6DDB77E-9571-9C79-8107-F44A9FCEAD68}"/>
          </ac:spMkLst>
        </pc:spChg>
      </pc:sldChg>
      <pc:sldChg chg="addSp delSp modSp new mod">
        <pc:chgData name="Ndumbi Kimani" userId="feaf20e413cf907e" providerId="LiveId" clId="{F505595F-0E85-498C-9F44-DE88045B60D4}" dt="2024-10-28T07:39:39.630" v="582" actId="1076"/>
        <pc:sldMkLst>
          <pc:docMk/>
          <pc:sldMk cId="1370168202" sldId="266"/>
        </pc:sldMkLst>
        <pc:spChg chg="mod">
          <ac:chgData name="Ndumbi Kimani" userId="feaf20e413cf907e" providerId="LiveId" clId="{F505595F-0E85-498C-9F44-DE88045B60D4}" dt="2024-10-28T07:39:39.630" v="582" actId="1076"/>
          <ac:spMkLst>
            <pc:docMk/>
            <pc:sldMk cId="1370168202" sldId="266"/>
            <ac:spMk id="2" creationId="{8808EBB8-9E6C-E999-64C5-6F9386F6E98C}"/>
          </ac:spMkLst>
        </pc:spChg>
        <pc:spChg chg="del">
          <ac:chgData name="Ndumbi Kimani" userId="feaf20e413cf907e" providerId="LiveId" clId="{F505595F-0E85-498C-9F44-DE88045B60D4}" dt="2024-10-28T07:33:38.532" v="516"/>
          <ac:spMkLst>
            <pc:docMk/>
            <pc:sldMk cId="1370168202" sldId="266"/>
            <ac:spMk id="3" creationId="{5CA124FD-4DE7-2E52-4610-741E2B2638BE}"/>
          </ac:spMkLst>
        </pc:spChg>
        <pc:picChg chg="add mod">
          <ac:chgData name="Ndumbi Kimani" userId="feaf20e413cf907e" providerId="LiveId" clId="{F505595F-0E85-498C-9F44-DE88045B60D4}" dt="2024-10-28T07:35:13.880" v="543" actId="1076"/>
          <ac:picMkLst>
            <pc:docMk/>
            <pc:sldMk cId="1370168202" sldId="266"/>
            <ac:picMk id="4" creationId="{00000000-0000-0000-0000-000000000000}"/>
          </ac:picMkLst>
        </pc:picChg>
      </pc:sldChg>
      <pc:sldChg chg="addSp delSp modSp new mod">
        <pc:chgData name="Ndumbi Kimani" userId="feaf20e413cf907e" providerId="LiveId" clId="{F505595F-0E85-498C-9F44-DE88045B60D4}" dt="2024-10-28T07:39:19.736" v="576" actId="1076"/>
        <pc:sldMkLst>
          <pc:docMk/>
          <pc:sldMk cId="206113908" sldId="267"/>
        </pc:sldMkLst>
        <pc:spChg chg="mod">
          <ac:chgData name="Ndumbi Kimani" userId="feaf20e413cf907e" providerId="LiveId" clId="{F505595F-0E85-498C-9F44-DE88045B60D4}" dt="2024-10-28T07:39:19.736" v="576" actId="1076"/>
          <ac:spMkLst>
            <pc:docMk/>
            <pc:sldMk cId="206113908" sldId="267"/>
            <ac:spMk id="2" creationId="{C780B5AE-0C82-634A-134C-0FE9F77E3DCF}"/>
          </ac:spMkLst>
        </pc:spChg>
        <pc:spChg chg="del">
          <ac:chgData name="Ndumbi Kimani" userId="feaf20e413cf907e" providerId="LiveId" clId="{F505595F-0E85-498C-9F44-DE88045B60D4}" dt="2024-10-28T07:37:09.785" v="548"/>
          <ac:spMkLst>
            <pc:docMk/>
            <pc:sldMk cId="206113908" sldId="267"/>
            <ac:spMk id="3" creationId="{6F87A539-CEE3-0092-4D6D-FA7DCD1E4D21}"/>
          </ac:spMkLst>
        </pc:spChg>
        <pc:picChg chg="add mod">
          <ac:chgData name="Ndumbi Kimani" userId="feaf20e413cf907e" providerId="LiveId" clId="{F505595F-0E85-498C-9F44-DE88045B60D4}" dt="2024-10-28T07:39:03.492" v="572" actId="1076"/>
          <ac:picMkLst>
            <pc:docMk/>
            <pc:sldMk cId="206113908" sldId="267"/>
            <ac:picMk id="4" creationId="{30824092-9F95-1E82-0A5E-D1DFC7232FEA}"/>
          </ac:picMkLst>
        </pc:picChg>
      </pc:sldChg>
      <pc:sldChg chg="modSp add mod ord">
        <pc:chgData name="Ndumbi Kimani" userId="feaf20e413cf907e" providerId="LiveId" clId="{F505595F-0E85-498C-9F44-DE88045B60D4}" dt="2024-10-28T07:55:32.995" v="614" actId="20577"/>
        <pc:sldMkLst>
          <pc:docMk/>
          <pc:sldMk cId="60521757" sldId="268"/>
        </pc:sldMkLst>
        <pc:spChg chg="mod">
          <ac:chgData name="Ndumbi Kimani" userId="feaf20e413cf907e" providerId="LiveId" clId="{F505595F-0E85-498C-9F44-DE88045B60D4}" dt="2024-10-28T07:55:32.995" v="614" actId="20577"/>
          <ac:spMkLst>
            <pc:docMk/>
            <pc:sldMk cId="60521757" sldId="268"/>
            <ac:spMk id="2" creationId="{F118E8FB-8D32-591B-4CB2-D819833EC31B}"/>
          </ac:spMkLst>
        </pc:spChg>
        <pc:spChg chg="mod">
          <ac:chgData name="Ndumbi Kimani" userId="feaf20e413cf907e" providerId="LiveId" clId="{F505595F-0E85-498C-9F44-DE88045B60D4}" dt="2024-10-28T07:55:17.800" v="609" actId="14100"/>
          <ac:spMkLst>
            <pc:docMk/>
            <pc:sldMk cId="60521757" sldId="268"/>
            <ac:spMk id="3" creationId="{B3A29FE7-04AB-13A5-2D3B-B28A442D6A72}"/>
          </ac:spMkLst>
        </pc:spChg>
      </pc:sldChg>
      <pc:sldChg chg="addSp delSp modSp add mod">
        <pc:chgData name="Ndumbi Kimani" userId="feaf20e413cf907e" providerId="LiveId" clId="{F505595F-0E85-498C-9F44-DE88045B60D4}" dt="2024-10-28T11:36:31.761" v="1272" actId="255"/>
        <pc:sldMkLst>
          <pc:docMk/>
          <pc:sldMk cId="619501955" sldId="269"/>
        </pc:sldMkLst>
        <pc:spChg chg="mod">
          <ac:chgData name="Ndumbi Kimani" userId="feaf20e413cf907e" providerId="LiveId" clId="{F505595F-0E85-498C-9F44-DE88045B60D4}" dt="2024-10-28T08:14:31.022" v="626" actId="20577"/>
          <ac:spMkLst>
            <pc:docMk/>
            <pc:sldMk cId="619501955" sldId="269"/>
            <ac:spMk id="2" creationId="{2C7CD259-573A-CD46-613F-CFF1142497B2}"/>
          </ac:spMkLst>
        </pc:spChg>
        <pc:spChg chg="add del mod">
          <ac:chgData name="Ndumbi Kimani" userId="feaf20e413cf907e" providerId="LiveId" clId="{F505595F-0E85-498C-9F44-DE88045B60D4}" dt="2024-10-28T11:36:31.761" v="1272" actId="255"/>
          <ac:spMkLst>
            <pc:docMk/>
            <pc:sldMk cId="619501955" sldId="269"/>
            <ac:spMk id="3" creationId="{012A3036-6EB9-6672-8F0B-F194F19D9265}"/>
          </ac:spMkLst>
        </pc:spChg>
        <pc:spChg chg="add mod">
          <ac:chgData name="Ndumbi Kimani" userId="feaf20e413cf907e" providerId="LiveId" clId="{F505595F-0E85-498C-9F44-DE88045B60D4}" dt="2024-10-28T11:34:59.749" v="1267" actId="113"/>
          <ac:spMkLst>
            <pc:docMk/>
            <pc:sldMk cId="619501955" sldId="269"/>
            <ac:spMk id="4" creationId="{EEEFA528-AA79-7FBB-833D-F9B0CE4119D3}"/>
          </ac:spMkLst>
        </pc:spChg>
      </pc:sldChg>
      <pc:sldChg chg="addSp delSp modSp add mod">
        <pc:chgData name="Ndumbi Kimani" userId="feaf20e413cf907e" providerId="LiveId" clId="{F505595F-0E85-498C-9F44-DE88045B60D4}" dt="2024-10-28T11:17:15.260" v="1123" actId="13822"/>
        <pc:sldMkLst>
          <pc:docMk/>
          <pc:sldMk cId="236028539" sldId="270"/>
        </pc:sldMkLst>
        <pc:spChg chg="del">
          <ac:chgData name="Ndumbi Kimani" userId="feaf20e413cf907e" providerId="LiveId" clId="{F505595F-0E85-498C-9F44-DE88045B60D4}" dt="2024-10-28T11:07:58.572" v="862" actId="478"/>
          <ac:spMkLst>
            <pc:docMk/>
            <pc:sldMk cId="236028539" sldId="270"/>
            <ac:spMk id="2" creationId="{4D42B27C-8E80-8892-576B-0D627F07E8C7}"/>
          </ac:spMkLst>
        </pc:spChg>
        <pc:spChg chg="del mod">
          <ac:chgData name="Ndumbi Kimani" userId="feaf20e413cf907e" providerId="LiveId" clId="{F505595F-0E85-498C-9F44-DE88045B60D4}" dt="2024-10-28T11:06:59.239" v="840" actId="478"/>
          <ac:spMkLst>
            <pc:docMk/>
            <pc:sldMk cId="236028539" sldId="270"/>
            <ac:spMk id="3" creationId="{540B76B7-175F-C157-3D48-D9F78B66E3CB}"/>
          </ac:spMkLst>
        </pc:spChg>
        <pc:spChg chg="add del mod">
          <ac:chgData name="Ndumbi Kimani" userId="feaf20e413cf907e" providerId="LiveId" clId="{F505595F-0E85-498C-9F44-DE88045B60D4}" dt="2024-10-28T11:07:07.297" v="841" actId="478"/>
          <ac:spMkLst>
            <pc:docMk/>
            <pc:sldMk cId="236028539" sldId="270"/>
            <ac:spMk id="21" creationId="{D0DB0A6A-4DB0-DC99-5441-E7262E3981DE}"/>
          </ac:spMkLst>
        </pc:spChg>
        <pc:spChg chg="add del mod">
          <ac:chgData name="Ndumbi Kimani" userId="feaf20e413cf907e" providerId="LiveId" clId="{F505595F-0E85-498C-9F44-DE88045B60D4}" dt="2024-10-28T11:09:41.733" v="889" actId="478"/>
          <ac:spMkLst>
            <pc:docMk/>
            <pc:sldMk cId="236028539" sldId="270"/>
            <ac:spMk id="24" creationId="{07FC7CD8-9302-7A48-7B0E-60859AEB1C56}"/>
          </ac:spMkLst>
        </pc:spChg>
        <pc:spChg chg="add mod">
          <ac:chgData name="Ndumbi Kimani" userId="feaf20e413cf907e" providerId="LiveId" clId="{F505595F-0E85-498C-9F44-DE88045B60D4}" dt="2024-10-28T11:17:15.260" v="1123" actId="13822"/>
          <ac:spMkLst>
            <pc:docMk/>
            <pc:sldMk cId="236028539" sldId="270"/>
            <ac:spMk id="25" creationId="{77CAEF2D-5813-440F-7ECB-01403465E008}"/>
          </ac:spMkLst>
        </pc:spChg>
        <pc:picChg chg="add mod">
          <ac:chgData name="Ndumbi Kimani" userId="feaf20e413cf907e" providerId="LiveId" clId="{F505595F-0E85-498C-9F44-DE88045B60D4}" dt="2024-10-28T11:11:24.759" v="965" actId="1036"/>
          <ac:picMkLst>
            <pc:docMk/>
            <pc:sldMk cId="236028539" sldId="270"/>
            <ac:picMk id="5" creationId="{8F295024-9DB8-15B5-3BFF-DBE58481AD67}"/>
          </ac:picMkLst>
        </pc:picChg>
        <pc:picChg chg="add mod">
          <ac:chgData name="Ndumbi Kimani" userId="feaf20e413cf907e" providerId="LiveId" clId="{F505595F-0E85-498C-9F44-DE88045B60D4}" dt="2024-10-28T11:11:43.091" v="996" actId="1036"/>
          <ac:picMkLst>
            <pc:docMk/>
            <pc:sldMk cId="236028539" sldId="270"/>
            <ac:picMk id="7" creationId="{F3D2482B-FD24-AC31-9843-2156BAA85BBE}"/>
          </ac:picMkLst>
        </pc:picChg>
        <pc:picChg chg="add mod">
          <ac:chgData name="Ndumbi Kimani" userId="feaf20e413cf907e" providerId="LiveId" clId="{F505595F-0E85-498C-9F44-DE88045B60D4}" dt="2024-10-28T11:15:52.427" v="1122" actId="1036"/>
          <ac:picMkLst>
            <pc:docMk/>
            <pc:sldMk cId="236028539" sldId="270"/>
            <ac:picMk id="9" creationId="{50D4154D-BDBC-8220-1094-7DC92B505E7E}"/>
          </ac:picMkLst>
        </pc:picChg>
        <pc:picChg chg="add mod">
          <ac:chgData name="Ndumbi Kimani" userId="feaf20e413cf907e" providerId="LiveId" clId="{F505595F-0E85-498C-9F44-DE88045B60D4}" dt="2024-10-28T11:11:20.647" v="950" actId="1037"/>
          <ac:picMkLst>
            <pc:docMk/>
            <pc:sldMk cId="236028539" sldId="270"/>
            <ac:picMk id="11" creationId="{FCDBC9E7-393F-EA76-1DC0-41D7FC50786F}"/>
          </ac:picMkLst>
        </pc:picChg>
        <pc:picChg chg="add mod">
          <ac:chgData name="Ndumbi Kimani" userId="feaf20e413cf907e" providerId="LiveId" clId="{F505595F-0E85-498C-9F44-DE88045B60D4}" dt="2024-10-28T11:15:45.730" v="1113" actId="1036"/>
          <ac:picMkLst>
            <pc:docMk/>
            <pc:sldMk cId="236028539" sldId="270"/>
            <ac:picMk id="13" creationId="{706B7FBA-565E-DD8B-F4B1-F55166B879A7}"/>
          </ac:picMkLst>
        </pc:picChg>
        <pc:picChg chg="add mod">
          <ac:chgData name="Ndumbi Kimani" userId="feaf20e413cf907e" providerId="LiveId" clId="{F505595F-0E85-498C-9F44-DE88045B60D4}" dt="2024-10-28T11:15:50.985" v="1120" actId="1036"/>
          <ac:picMkLst>
            <pc:docMk/>
            <pc:sldMk cId="236028539" sldId="270"/>
            <ac:picMk id="15" creationId="{9DCD250B-A8BF-7824-0541-306CC4E3CB11}"/>
          </ac:picMkLst>
        </pc:picChg>
        <pc:picChg chg="add mod">
          <ac:chgData name="Ndumbi Kimani" userId="feaf20e413cf907e" providerId="LiveId" clId="{F505595F-0E85-498C-9F44-DE88045B60D4}" dt="2024-10-28T11:11:01.351" v="911" actId="14100"/>
          <ac:picMkLst>
            <pc:docMk/>
            <pc:sldMk cId="236028539" sldId="270"/>
            <ac:picMk id="17" creationId="{635449A4-E2F4-E5F3-2775-5C5FE3641A7F}"/>
          </ac:picMkLst>
        </pc:picChg>
        <pc:picChg chg="add del mod">
          <ac:chgData name="Ndumbi Kimani" userId="feaf20e413cf907e" providerId="LiveId" clId="{F505595F-0E85-498C-9F44-DE88045B60D4}" dt="2024-10-28T11:06:52.828" v="838" actId="21"/>
          <ac:picMkLst>
            <pc:docMk/>
            <pc:sldMk cId="236028539" sldId="270"/>
            <ac:picMk id="19" creationId="{A7EF18B9-EFE3-5DFF-56F6-80092A8A4320}"/>
          </ac:picMkLst>
        </pc:picChg>
        <pc:picChg chg="add mod">
          <ac:chgData name="Ndumbi Kimani" userId="feaf20e413cf907e" providerId="LiveId" clId="{F505595F-0E85-498C-9F44-DE88045B60D4}" dt="2024-10-28T11:11:50.241" v="998" actId="1076"/>
          <ac:picMkLst>
            <pc:docMk/>
            <pc:sldMk cId="236028539" sldId="270"/>
            <ac:picMk id="22" creationId="{A7EF18B9-EFE3-5DFF-56F6-80092A8A4320}"/>
          </ac:picMkLst>
        </pc:picChg>
      </pc:sldChg>
      <pc:sldChg chg="addSp modSp new del mod">
        <pc:chgData name="Ndumbi Kimani" userId="feaf20e413cf907e" providerId="LiveId" clId="{F505595F-0E85-498C-9F44-DE88045B60D4}" dt="2024-10-28T11:33:06.795" v="1258" actId="2696"/>
        <pc:sldMkLst>
          <pc:docMk/>
          <pc:sldMk cId="539415423" sldId="271"/>
        </pc:sldMkLst>
        <pc:spChg chg="mod">
          <ac:chgData name="Ndumbi Kimani" userId="feaf20e413cf907e" providerId="LiveId" clId="{F505595F-0E85-498C-9F44-DE88045B60D4}" dt="2024-10-28T11:29:04.641" v="1209" actId="21"/>
          <ac:spMkLst>
            <pc:docMk/>
            <pc:sldMk cId="539415423" sldId="271"/>
            <ac:spMk id="2" creationId="{91BA3343-FD11-23E3-0441-E5B768F912F0}"/>
          </ac:spMkLst>
        </pc:spChg>
        <pc:spChg chg="add">
          <ac:chgData name="Ndumbi Kimani" userId="feaf20e413cf907e" providerId="LiveId" clId="{F505595F-0E85-498C-9F44-DE88045B60D4}" dt="2024-10-28T11:28:37.615" v="1184"/>
          <ac:spMkLst>
            <pc:docMk/>
            <pc:sldMk cId="539415423" sldId="271"/>
            <ac:spMk id="4" creationId="{92E59DDF-B593-31BA-A360-03DCA89F7CF9}"/>
          </ac:spMkLst>
        </pc:spChg>
        <pc:spChg chg="add">
          <ac:chgData name="Ndumbi Kimani" userId="feaf20e413cf907e" providerId="LiveId" clId="{F505595F-0E85-498C-9F44-DE88045B60D4}" dt="2024-10-28T11:28:37.615" v="1184"/>
          <ac:spMkLst>
            <pc:docMk/>
            <pc:sldMk cId="539415423" sldId="271"/>
            <ac:spMk id="5" creationId="{3EBE6C25-6E7C-653C-5253-ED6B397677F1}"/>
          </ac:spMkLst>
        </pc:spChg>
        <pc:spChg chg="add">
          <ac:chgData name="Ndumbi Kimani" userId="feaf20e413cf907e" providerId="LiveId" clId="{F505595F-0E85-498C-9F44-DE88045B60D4}" dt="2024-10-28T11:28:37.615" v="1184"/>
          <ac:spMkLst>
            <pc:docMk/>
            <pc:sldMk cId="539415423" sldId="271"/>
            <ac:spMk id="6" creationId="{9C91E6B7-2681-C910-99F5-2BD7200D4CBD}"/>
          </ac:spMkLst>
        </pc:spChg>
      </pc:sldChg>
      <pc:sldChg chg="delSp modSp add mod ord">
        <pc:chgData name="Ndumbi Kimani" userId="feaf20e413cf907e" providerId="LiveId" clId="{F505595F-0E85-498C-9F44-DE88045B60D4}" dt="2024-10-28T11:32:49.163" v="1255" actId="2710"/>
        <pc:sldMkLst>
          <pc:docMk/>
          <pc:sldMk cId="1612532214" sldId="272"/>
        </pc:sldMkLst>
        <pc:spChg chg="mod">
          <ac:chgData name="Ndumbi Kimani" userId="feaf20e413cf907e" providerId="LiveId" clId="{F505595F-0E85-498C-9F44-DE88045B60D4}" dt="2024-10-28T11:29:07.104" v="1210"/>
          <ac:spMkLst>
            <pc:docMk/>
            <pc:sldMk cId="1612532214" sldId="272"/>
            <ac:spMk id="2" creationId="{55894C40-D073-A557-BBA7-ACE55327C78F}"/>
          </ac:spMkLst>
        </pc:spChg>
        <pc:spChg chg="mod">
          <ac:chgData name="Ndumbi Kimani" userId="feaf20e413cf907e" providerId="LiveId" clId="{F505595F-0E85-498C-9F44-DE88045B60D4}" dt="2024-10-28T11:32:49.163" v="1255" actId="2710"/>
          <ac:spMkLst>
            <pc:docMk/>
            <pc:sldMk cId="1612532214" sldId="272"/>
            <ac:spMk id="3" creationId="{B08EDA5C-D68A-C60D-CD6B-1937E4F8C84E}"/>
          </ac:spMkLst>
        </pc:spChg>
        <pc:spChg chg="del">
          <ac:chgData name="Ndumbi Kimani" userId="feaf20e413cf907e" providerId="LiveId" clId="{F505595F-0E85-498C-9F44-DE88045B60D4}" dt="2024-10-28T11:29:11.156" v="1211" actId="478"/>
          <ac:spMkLst>
            <pc:docMk/>
            <pc:sldMk cId="1612532214" sldId="272"/>
            <ac:spMk id="4" creationId="{7FF4C0C9-4431-6D20-FED4-86792AE810A7}"/>
          </ac:spMkLst>
        </pc:spChg>
      </pc:sldChg>
      <pc:sldChg chg="modSp add mod">
        <pc:chgData name="Ndumbi Kimani" userId="feaf20e413cf907e" providerId="LiveId" clId="{F505595F-0E85-498C-9F44-DE88045B60D4}" dt="2024-10-28T11:32:39.377" v="1253" actId="2710"/>
        <pc:sldMkLst>
          <pc:docMk/>
          <pc:sldMk cId="1514339912" sldId="273"/>
        </pc:sldMkLst>
        <pc:spChg chg="mod">
          <ac:chgData name="Ndumbi Kimani" userId="feaf20e413cf907e" providerId="LiveId" clId="{F505595F-0E85-498C-9F44-DE88045B60D4}" dt="2024-10-28T11:32:23.836" v="1251" actId="20577"/>
          <ac:spMkLst>
            <pc:docMk/>
            <pc:sldMk cId="1514339912" sldId="273"/>
            <ac:spMk id="2" creationId="{26659C2F-8420-B408-BC41-2E22A70757DF}"/>
          </ac:spMkLst>
        </pc:spChg>
        <pc:spChg chg="mod">
          <ac:chgData name="Ndumbi Kimani" userId="feaf20e413cf907e" providerId="LiveId" clId="{F505595F-0E85-498C-9F44-DE88045B60D4}" dt="2024-10-28T11:32:39.377" v="1253" actId="2710"/>
          <ac:spMkLst>
            <pc:docMk/>
            <pc:sldMk cId="1514339912" sldId="273"/>
            <ac:spMk id="3" creationId="{9FE9AB69-8B20-0F8B-D65E-E65B838C047E}"/>
          </ac:spMkLst>
        </pc:spChg>
      </pc:sldChg>
      <pc:sldChg chg="new del">
        <pc:chgData name="Ndumbi Kimani" userId="feaf20e413cf907e" providerId="LiveId" clId="{F505595F-0E85-498C-9F44-DE88045B60D4}" dt="2024-10-28T11:33:08.865" v="1259" actId="2696"/>
        <pc:sldMkLst>
          <pc:docMk/>
          <pc:sldMk cId="284735644" sldId="274"/>
        </pc:sldMkLst>
      </pc:sldChg>
      <pc:sldChg chg="addSp delSp modSp add mod">
        <pc:chgData name="Ndumbi Kimani" userId="feaf20e413cf907e" providerId="LiveId" clId="{F505595F-0E85-498C-9F44-DE88045B60D4}" dt="2024-10-28T11:37:49.500" v="1288" actId="20577"/>
        <pc:sldMkLst>
          <pc:docMk/>
          <pc:sldMk cId="499757038" sldId="275"/>
        </pc:sldMkLst>
        <pc:spChg chg="mod">
          <ac:chgData name="Ndumbi Kimani" userId="feaf20e413cf907e" providerId="LiveId" clId="{F505595F-0E85-498C-9F44-DE88045B60D4}" dt="2024-10-28T11:37:49.500" v="1288" actId="20577"/>
          <ac:spMkLst>
            <pc:docMk/>
            <pc:sldMk cId="499757038" sldId="275"/>
            <ac:spMk id="2" creationId="{6BC140B6-2364-12E5-067D-FE518CCAD8A6}"/>
          </ac:spMkLst>
        </pc:spChg>
        <pc:spChg chg="del">
          <ac:chgData name="Ndumbi Kimani" userId="feaf20e413cf907e" providerId="LiveId" clId="{F505595F-0E85-498C-9F44-DE88045B60D4}" dt="2024-10-28T11:37:31.086" v="1273" actId="478"/>
          <ac:spMkLst>
            <pc:docMk/>
            <pc:sldMk cId="499757038" sldId="275"/>
            <ac:spMk id="3" creationId="{D02BBE0B-AD1F-B37B-64A2-428FBB1E2F13}"/>
          </ac:spMkLst>
        </pc:spChg>
        <pc:spChg chg="add del mod">
          <ac:chgData name="Ndumbi Kimani" userId="feaf20e413cf907e" providerId="LiveId" clId="{F505595F-0E85-498C-9F44-DE88045B60D4}" dt="2024-10-28T11:37:33.506" v="1274" actId="478"/>
          <ac:spMkLst>
            <pc:docMk/>
            <pc:sldMk cId="499757038" sldId="275"/>
            <ac:spMk id="5" creationId="{6F35D7C9-1B59-D632-7454-9E145602A98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C2CD3-AB33-4EFD-8CC5-4F585F23D225}" type="datetimeFigureOut">
              <a:rPr lang="en-US" smtClean="0"/>
              <a:t>11/8/2024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03D35F-6FD1-41B1-A30D-49EDC1928624}" type="slidenum">
              <a:rPr lang="en-US" smtClean="0"/>
              <a:t>‹#›</a:t>
            </a:fld>
            <a:endParaRPr lang="en-US"/>
          </a:p>
        </p:txBody>
      </p:sp>
    </p:spTree>
    <p:extLst>
      <p:ext uri="{BB962C8B-B14F-4D97-AF65-F5344CB8AC3E}">
        <p14:creationId xmlns:p14="http://schemas.microsoft.com/office/powerpoint/2010/main" val="19663124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203D35F-6FD1-41B1-A30D-49EDC1928624}" type="slidenum">
              <a:rPr lang="en-US" smtClean="0"/>
              <a:t>9</a:t>
            </a:fld>
            <a:endParaRPr lang="en-US"/>
          </a:p>
        </p:txBody>
      </p:sp>
    </p:spTree>
    <p:extLst>
      <p:ext uri="{BB962C8B-B14F-4D97-AF65-F5344CB8AC3E}">
        <p14:creationId xmlns:p14="http://schemas.microsoft.com/office/powerpoint/2010/main" val="40358391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203D35F-6FD1-41B1-A30D-49EDC1928624}" type="slidenum">
              <a:rPr lang="en-US" smtClean="0"/>
              <a:t>10</a:t>
            </a:fld>
            <a:endParaRPr lang="en-US"/>
          </a:p>
        </p:txBody>
      </p:sp>
    </p:spTree>
    <p:extLst>
      <p:ext uri="{BB962C8B-B14F-4D97-AF65-F5344CB8AC3E}">
        <p14:creationId xmlns:p14="http://schemas.microsoft.com/office/powerpoint/2010/main" val="8340729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203D35F-6FD1-41B1-A30D-49EDC1928624}" type="slidenum">
              <a:rPr lang="en-US" smtClean="0"/>
              <a:t>11</a:t>
            </a:fld>
            <a:endParaRPr lang="en-US"/>
          </a:p>
        </p:txBody>
      </p:sp>
    </p:spTree>
    <p:extLst>
      <p:ext uri="{BB962C8B-B14F-4D97-AF65-F5344CB8AC3E}">
        <p14:creationId xmlns:p14="http://schemas.microsoft.com/office/powerpoint/2010/main" val="6066668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11/7/2024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5C4B843-0D76-2CB2-A41C-D2F6DEA1D842}"/>
              </a:ext>
            </a:extLst>
          </p:cNvPr>
          <p:cNvPicPr>
            <a:picLocks noChangeAspect="1"/>
          </p:cNvPicPr>
          <p:nvPr/>
        </p:nvPicPr>
        <p:blipFill>
          <a:blip r:embed="rId2"/>
          <a:stretch>
            <a:fillRect/>
          </a:stretch>
        </p:blipFill>
        <p:spPr>
          <a:xfrm>
            <a:off x="0" y="1651819"/>
            <a:ext cx="9144000" cy="5206181"/>
          </a:xfrm>
          <a:prstGeom prst="rect">
            <a:avLst/>
          </a:prstGeom>
        </p:spPr>
      </p:pic>
      <p:sp>
        <p:nvSpPr>
          <p:cNvPr id="6" name="Title 1">
            <a:extLst>
              <a:ext uri="{FF2B5EF4-FFF2-40B4-BE49-F238E27FC236}">
                <a16:creationId xmlns:a16="http://schemas.microsoft.com/office/drawing/2014/main" id="{E2C6CA32-3FE0-1321-6195-43567E435813}"/>
              </a:ext>
            </a:extLst>
          </p:cNvPr>
          <p:cNvSpPr txBox="1">
            <a:spLocks/>
          </p:cNvSpPr>
          <p:nvPr/>
        </p:nvSpPr>
        <p:spPr>
          <a:xfrm>
            <a:off x="457199" y="274638"/>
            <a:ext cx="8229601" cy="580768"/>
          </a:xfrm>
          <a:prstGeom prst="rect">
            <a:avLst/>
          </a:prstGeom>
          <a:solidFill>
            <a:srgbClr val="57093B"/>
          </a:solidFill>
        </p:spPr>
        <p:style>
          <a:lnRef idx="0">
            <a:schemeClr val="accent6"/>
          </a:lnRef>
          <a:fillRef idx="3">
            <a:schemeClr val="accent6"/>
          </a:fillRef>
          <a:effectRef idx="3">
            <a:schemeClr val="accent6"/>
          </a:effectRef>
          <a:fontRef idx="minor">
            <a:schemeClr val="lt1"/>
          </a:fontRef>
        </p:style>
        <p:txBody>
          <a:bodyPr vert="horz" lIns="91440" tIns="45720" rIns="91440" bIns="4572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2400" dirty="0">
                <a:latin typeface="Barclaycard Co" panose="020B0503060202020204" pitchFamily="34" charset="0"/>
              </a:rPr>
              <a:t>Customer Connect Tel Churn Analysis</a:t>
            </a:r>
            <a:endParaRPr lang="en-US" sz="2400" dirty="0"/>
          </a:p>
        </p:txBody>
      </p:sp>
      <p:sp>
        <p:nvSpPr>
          <p:cNvPr id="7" name="Title 1">
            <a:extLst>
              <a:ext uri="{FF2B5EF4-FFF2-40B4-BE49-F238E27FC236}">
                <a16:creationId xmlns:a16="http://schemas.microsoft.com/office/drawing/2014/main" id="{8BDBD6E5-DB37-3FB2-0B20-3C4905FD1D0A}"/>
              </a:ext>
            </a:extLst>
          </p:cNvPr>
          <p:cNvSpPr txBox="1">
            <a:spLocks/>
          </p:cNvSpPr>
          <p:nvPr/>
        </p:nvSpPr>
        <p:spPr>
          <a:xfrm>
            <a:off x="1574186" y="824310"/>
            <a:ext cx="5995626" cy="849917"/>
          </a:xfrm>
          <a:prstGeom prst="rect">
            <a:avLst/>
          </a:prstGeom>
        </p:spPr>
        <p:txBody>
          <a:bodyPr vert="horz" lIns="91440" tIns="45720" rIns="91440" bIns="45720" rtlCol="0" anchor="ctr">
            <a:normAutofit fontScale="97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1800" dirty="0">
                <a:latin typeface="Aptos Display" panose="020B0004020202020204" pitchFamily="34" charset="0"/>
              </a:rPr>
              <a:t>Presentation Analysis by Ndumbi Kimani.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95D6A-0BA7-DF49-FB34-E9249DF4B530}"/>
              </a:ext>
            </a:extLst>
          </p:cNvPr>
          <p:cNvSpPr>
            <a:spLocks noGrp="1"/>
          </p:cNvSpPr>
          <p:nvPr>
            <p:ph type="title"/>
          </p:nvPr>
        </p:nvSpPr>
        <p:spPr>
          <a:xfrm>
            <a:off x="457199" y="274638"/>
            <a:ext cx="8229601" cy="580768"/>
          </a:xfrm>
          <a:solidFill>
            <a:srgbClr val="57093B"/>
          </a:solidFill>
        </p:spPr>
        <p:style>
          <a:lnRef idx="0">
            <a:schemeClr val="accent6"/>
          </a:lnRef>
          <a:fillRef idx="3">
            <a:schemeClr val="accent6"/>
          </a:fillRef>
          <a:effectRef idx="3">
            <a:schemeClr val="accent6"/>
          </a:effectRef>
          <a:fontRef idx="minor">
            <a:schemeClr val="lt1"/>
          </a:fontRef>
        </p:style>
        <p:txBody>
          <a:bodyPr>
            <a:normAutofit/>
          </a:bodyPr>
          <a:lstStyle/>
          <a:p>
            <a:r>
              <a:rPr lang="en-US" sz="1800" dirty="0">
                <a:latin typeface="Barclaycard Co" panose="020B0503060202020204" pitchFamily="34" charset="0"/>
              </a:rPr>
              <a:t>About Connect Tel</a:t>
            </a:r>
          </a:p>
        </p:txBody>
      </p:sp>
      <p:sp>
        <p:nvSpPr>
          <p:cNvPr id="3" name="Content Placeholder 2">
            <a:extLst>
              <a:ext uri="{FF2B5EF4-FFF2-40B4-BE49-F238E27FC236}">
                <a16:creationId xmlns:a16="http://schemas.microsoft.com/office/drawing/2014/main" id="{A9D1D38B-9FA5-1225-8F5F-C21BF4C9DF80}"/>
              </a:ext>
            </a:extLst>
          </p:cNvPr>
          <p:cNvSpPr>
            <a:spLocks noGrp="1"/>
          </p:cNvSpPr>
          <p:nvPr>
            <p:ph idx="1"/>
          </p:nvPr>
        </p:nvSpPr>
        <p:spPr>
          <a:xfrm>
            <a:off x="457200" y="1209675"/>
            <a:ext cx="8229600" cy="2238375"/>
          </a:xfrm>
        </p:spPr>
        <p:txBody>
          <a:bodyPr>
            <a:normAutofit fontScale="77500" lnSpcReduction="20000"/>
          </a:bodyPr>
          <a:lstStyle/>
          <a:p>
            <a:pPr>
              <a:lnSpc>
                <a:spcPct val="150000"/>
              </a:lnSpc>
            </a:pPr>
            <a:r>
              <a:rPr lang="en-US" sz="1800" dirty="0"/>
              <a:t>Connect Tel is a global leader in telecommunications, providing reliable voice, data, and Internet services. </a:t>
            </a:r>
          </a:p>
          <a:p>
            <a:pPr marL="0" indent="0">
              <a:lnSpc>
                <a:spcPct val="150000"/>
              </a:lnSpc>
              <a:buNone/>
            </a:pPr>
            <a:endParaRPr lang="en-US" sz="1800" dirty="0"/>
          </a:p>
          <a:p>
            <a:pPr>
              <a:lnSpc>
                <a:spcPct val="150000"/>
              </a:lnSpc>
            </a:pPr>
            <a:r>
              <a:rPr lang="en-US" sz="1800" dirty="0"/>
              <a:t>Offering mobile networks, broadband, and enterprise solutions, Connect Tel serves both individuals and businesses. Known for exceptional customer service and innovative technology, the company ensures seamless communication for millions worldwide. Through strategic partnerships and a customer-focused approach, Connect Tel drives progress in the telecom industry, helping people and businesses thrive in the digital age.</a:t>
            </a:r>
          </a:p>
        </p:txBody>
      </p:sp>
      <p:sp>
        <p:nvSpPr>
          <p:cNvPr id="4" name="Title 1">
            <a:extLst>
              <a:ext uri="{FF2B5EF4-FFF2-40B4-BE49-F238E27FC236}">
                <a16:creationId xmlns:a16="http://schemas.microsoft.com/office/drawing/2014/main" id="{448B76FF-0C8C-7E9D-49DB-4128AFB89AA7}"/>
              </a:ext>
            </a:extLst>
          </p:cNvPr>
          <p:cNvSpPr txBox="1">
            <a:spLocks/>
          </p:cNvSpPr>
          <p:nvPr/>
        </p:nvSpPr>
        <p:spPr>
          <a:xfrm>
            <a:off x="457198" y="3511935"/>
            <a:ext cx="8229601" cy="580768"/>
          </a:xfrm>
          <a:prstGeom prst="rect">
            <a:avLst/>
          </a:prstGeom>
          <a:solidFill>
            <a:srgbClr val="57093B"/>
          </a:solidFill>
        </p:spPr>
        <p:style>
          <a:lnRef idx="0">
            <a:schemeClr val="accent6"/>
          </a:lnRef>
          <a:fillRef idx="3">
            <a:schemeClr val="accent6"/>
          </a:fillRef>
          <a:effectRef idx="3">
            <a:schemeClr val="accent6"/>
          </a:effectRef>
          <a:fontRef idx="minor">
            <a:schemeClr val="lt1"/>
          </a:fontRef>
        </p:style>
        <p:txBody>
          <a:bodyPr vert="horz" lIns="91440" tIns="45720" rIns="91440" bIns="4572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600" dirty="0">
                <a:latin typeface="Barclaycard Co" panose="020B0503060202020204" pitchFamily="34" charset="0"/>
              </a:rPr>
              <a:t>Problem Overview</a:t>
            </a:r>
          </a:p>
        </p:txBody>
      </p:sp>
      <p:sp>
        <p:nvSpPr>
          <p:cNvPr id="5" name="Content Placeholder 2">
            <a:extLst>
              <a:ext uri="{FF2B5EF4-FFF2-40B4-BE49-F238E27FC236}">
                <a16:creationId xmlns:a16="http://schemas.microsoft.com/office/drawing/2014/main" id="{10819639-B10E-0D25-D229-FA868F77FB91}"/>
              </a:ext>
            </a:extLst>
          </p:cNvPr>
          <p:cNvSpPr txBox="1">
            <a:spLocks/>
          </p:cNvSpPr>
          <p:nvPr/>
        </p:nvSpPr>
        <p:spPr>
          <a:xfrm>
            <a:off x="224413" y="4467225"/>
            <a:ext cx="8393561" cy="2038349"/>
          </a:xfrm>
          <a:prstGeom prst="rect">
            <a:avLst/>
          </a:prstGeom>
        </p:spPr>
        <p:txBody>
          <a:bodyPr vert="horz" lIns="91440" tIns="45720" rIns="91440" bIns="45720" rtlCol="0">
            <a:normAutofit fontScale="775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ct val="150000"/>
              </a:lnSpc>
            </a:pPr>
            <a:r>
              <a:rPr lang="en-US" sz="1800" dirty="0" err="1"/>
              <a:t>ConnectTel</a:t>
            </a:r>
            <a:r>
              <a:rPr lang="en-US" sz="1800" dirty="0"/>
              <a:t> faces a critical challenge with customer churn, threatening its growth and sustainability. The company's current retention strategies are ineffective, leading to customer losses to competitors. To address this, </a:t>
            </a:r>
            <a:r>
              <a:rPr lang="en-US" sz="1800" dirty="0" err="1"/>
              <a:t>ConnectTel</a:t>
            </a:r>
            <a:r>
              <a:rPr lang="en-US" sz="1800" dirty="0"/>
              <a:t> has enlisted you as a Data Scientist to develop a customer churn prediction system. By applying advanced analytics and machine learning to customer data, the goal is to accurately predict churn and implement focused retention strategies. This approach will help reduce attrition, improve customer loyalty, and maintain a competitive edge in the fast-paced telecommunications market.</a:t>
            </a:r>
          </a:p>
        </p:txBody>
      </p:sp>
    </p:spTree>
    <p:extLst>
      <p:ext uri="{BB962C8B-B14F-4D97-AF65-F5344CB8AC3E}">
        <p14:creationId xmlns:p14="http://schemas.microsoft.com/office/powerpoint/2010/main" val="2535465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2E149-5DD3-5F8F-29F7-17C2C22A0AC4}"/>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F4589AA4-CC6F-AB6E-C076-D0ABA6226FF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706528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0C14B31-2483-11FF-04AB-399E5F90D12C}"/>
              </a:ext>
            </a:extLst>
          </p:cNvPr>
          <p:cNvPicPr>
            <a:picLocks noChangeAspect="1"/>
          </p:cNvPicPr>
          <p:nvPr/>
        </p:nvPicPr>
        <p:blipFill>
          <a:blip r:embed="rId2"/>
          <a:stretch>
            <a:fillRect/>
          </a:stretch>
        </p:blipFill>
        <p:spPr>
          <a:xfrm>
            <a:off x="752475" y="917323"/>
            <a:ext cx="7543800" cy="5667252"/>
          </a:xfrm>
          <a:prstGeom prst="rect">
            <a:avLst/>
          </a:prstGeom>
        </p:spPr>
      </p:pic>
      <p:sp>
        <p:nvSpPr>
          <p:cNvPr id="10" name="Title 1">
            <a:extLst>
              <a:ext uri="{FF2B5EF4-FFF2-40B4-BE49-F238E27FC236}">
                <a16:creationId xmlns:a16="http://schemas.microsoft.com/office/drawing/2014/main" id="{62B20193-9D80-381E-87CF-22ECBFB718D9}"/>
              </a:ext>
            </a:extLst>
          </p:cNvPr>
          <p:cNvSpPr>
            <a:spLocks noGrp="1"/>
          </p:cNvSpPr>
          <p:nvPr>
            <p:ph type="title"/>
          </p:nvPr>
        </p:nvSpPr>
        <p:spPr>
          <a:xfrm>
            <a:off x="2391234" y="170426"/>
            <a:ext cx="4361529" cy="600433"/>
          </a:xfrm>
          <a:solidFill>
            <a:srgbClr val="57093B"/>
          </a:solidFill>
        </p:spPr>
        <p:style>
          <a:lnRef idx="3">
            <a:schemeClr val="lt1"/>
          </a:lnRef>
          <a:fillRef idx="1">
            <a:schemeClr val="accent6"/>
          </a:fillRef>
          <a:effectRef idx="1">
            <a:schemeClr val="accent6"/>
          </a:effectRef>
          <a:fontRef idx="minor">
            <a:schemeClr val="lt1"/>
          </a:fontRef>
        </p:style>
        <p:txBody>
          <a:bodyPr>
            <a:normAutofit/>
          </a:bodyPr>
          <a:lstStyle/>
          <a:p>
            <a:r>
              <a:rPr lang="en-US" sz="1200" dirty="0"/>
              <a:t>Univariate Analysis on Numerical Data</a:t>
            </a:r>
          </a:p>
        </p:txBody>
      </p:sp>
      <p:sp>
        <p:nvSpPr>
          <p:cNvPr id="13" name="Title 1">
            <a:extLst>
              <a:ext uri="{FF2B5EF4-FFF2-40B4-BE49-F238E27FC236}">
                <a16:creationId xmlns:a16="http://schemas.microsoft.com/office/drawing/2014/main" id="{B198E518-DFCA-4E1B-ADAD-49DA626C8706}"/>
              </a:ext>
            </a:extLst>
          </p:cNvPr>
          <p:cNvSpPr txBox="1">
            <a:spLocks/>
          </p:cNvSpPr>
          <p:nvPr/>
        </p:nvSpPr>
        <p:spPr>
          <a:xfrm>
            <a:off x="2543635" y="6387357"/>
            <a:ext cx="4361529" cy="600433"/>
          </a:xfrm>
          <a:prstGeom prst="rect">
            <a:avLst/>
          </a:prstGeom>
          <a:noFill/>
          <a:ln>
            <a:noFill/>
          </a:ln>
        </p:spPr>
        <p:style>
          <a:lnRef idx="3">
            <a:schemeClr val="lt1"/>
          </a:lnRef>
          <a:fillRef idx="1">
            <a:schemeClr val="accent6"/>
          </a:fillRef>
          <a:effectRef idx="1">
            <a:schemeClr val="accent6"/>
          </a:effectRef>
          <a:fontRef idx="minor">
            <a:schemeClr val="lt1"/>
          </a:fontRef>
        </p:style>
        <p:txBody>
          <a:bodyPr vert="horz" lIns="91440" tIns="45720" rIns="91440" bIns="4572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200" dirty="0">
                <a:solidFill>
                  <a:schemeClr val="tx1">
                    <a:lumMod val="95000"/>
                    <a:lumOff val="5000"/>
                  </a:schemeClr>
                </a:solidFill>
              </a:rPr>
              <a:t>Skewed Distribution </a:t>
            </a:r>
          </a:p>
        </p:txBody>
      </p:sp>
    </p:spTree>
    <p:extLst>
      <p:ext uri="{BB962C8B-B14F-4D97-AF65-F5344CB8AC3E}">
        <p14:creationId xmlns:p14="http://schemas.microsoft.com/office/powerpoint/2010/main" val="30732052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D7863-0708-61CB-C21E-A7EBAFED731C}"/>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AF65B294-32B0-D6AC-E420-E7A0E046E5DF}"/>
              </a:ext>
            </a:extLst>
          </p:cNvPr>
          <p:cNvPicPr>
            <a:picLocks noChangeAspect="1"/>
          </p:cNvPicPr>
          <p:nvPr/>
        </p:nvPicPr>
        <p:blipFill>
          <a:blip r:embed="rId2"/>
          <a:stretch>
            <a:fillRect/>
          </a:stretch>
        </p:blipFill>
        <p:spPr>
          <a:xfrm>
            <a:off x="809049" y="994587"/>
            <a:ext cx="7525901" cy="5767173"/>
          </a:xfrm>
          <a:prstGeom prst="rect">
            <a:avLst/>
          </a:prstGeom>
        </p:spPr>
      </p:pic>
      <p:sp>
        <p:nvSpPr>
          <p:cNvPr id="13" name="Title 1">
            <a:extLst>
              <a:ext uri="{FF2B5EF4-FFF2-40B4-BE49-F238E27FC236}">
                <a16:creationId xmlns:a16="http://schemas.microsoft.com/office/drawing/2014/main" id="{924ABDF4-C166-5131-3CC3-B2792DF4262C}"/>
              </a:ext>
            </a:extLst>
          </p:cNvPr>
          <p:cNvSpPr>
            <a:spLocks noGrp="1"/>
          </p:cNvSpPr>
          <p:nvPr>
            <p:ph type="title"/>
          </p:nvPr>
        </p:nvSpPr>
        <p:spPr>
          <a:xfrm>
            <a:off x="2391234" y="247292"/>
            <a:ext cx="4361529" cy="600433"/>
          </a:xfrm>
          <a:solidFill>
            <a:srgbClr val="57093B"/>
          </a:solidFill>
        </p:spPr>
        <p:style>
          <a:lnRef idx="3">
            <a:schemeClr val="lt1"/>
          </a:lnRef>
          <a:fillRef idx="1">
            <a:schemeClr val="accent6"/>
          </a:fillRef>
          <a:effectRef idx="1">
            <a:schemeClr val="accent6"/>
          </a:effectRef>
          <a:fontRef idx="minor">
            <a:schemeClr val="lt1"/>
          </a:fontRef>
        </p:style>
        <p:txBody>
          <a:bodyPr>
            <a:normAutofit/>
          </a:bodyPr>
          <a:lstStyle/>
          <a:p>
            <a:r>
              <a:rPr lang="en-US" sz="1200" dirty="0"/>
              <a:t>Bivariate  Analysis on Numerical Data</a:t>
            </a:r>
          </a:p>
        </p:txBody>
      </p:sp>
    </p:spTree>
    <p:extLst>
      <p:ext uri="{BB962C8B-B14F-4D97-AF65-F5344CB8AC3E}">
        <p14:creationId xmlns:p14="http://schemas.microsoft.com/office/powerpoint/2010/main" val="1630299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B8D44-F265-52CC-F1C0-B76D9E1060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07AE6A-9E79-1B80-1208-615DEDC6798E}"/>
              </a:ext>
            </a:extLst>
          </p:cNvPr>
          <p:cNvSpPr>
            <a:spLocks noGrp="1"/>
          </p:cNvSpPr>
          <p:nvPr>
            <p:ph type="title"/>
          </p:nvPr>
        </p:nvSpPr>
        <p:spPr>
          <a:xfrm>
            <a:off x="457199" y="274638"/>
            <a:ext cx="8229601" cy="551272"/>
          </a:xfrm>
          <a:solidFill>
            <a:srgbClr val="57093B"/>
          </a:solidFill>
        </p:spPr>
        <p:style>
          <a:lnRef idx="0">
            <a:schemeClr val="accent6"/>
          </a:lnRef>
          <a:fillRef idx="3">
            <a:schemeClr val="accent6"/>
          </a:fillRef>
          <a:effectRef idx="3">
            <a:schemeClr val="accent6"/>
          </a:effectRef>
          <a:fontRef idx="minor">
            <a:schemeClr val="lt1"/>
          </a:fontRef>
        </p:style>
        <p:txBody>
          <a:bodyPr>
            <a:normAutofit/>
          </a:bodyPr>
          <a:lstStyle/>
          <a:p>
            <a:r>
              <a:rPr lang="en-US" sz="2400" dirty="0">
                <a:latin typeface="Barclaycard Co" panose="020B0503060202020204" pitchFamily="34" charset="0"/>
              </a:rPr>
              <a:t>Numerical EDA Analysis </a:t>
            </a:r>
          </a:p>
        </p:txBody>
      </p:sp>
      <p:sp>
        <p:nvSpPr>
          <p:cNvPr id="3" name="Content Placeholder 2">
            <a:extLst>
              <a:ext uri="{FF2B5EF4-FFF2-40B4-BE49-F238E27FC236}">
                <a16:creationId xmlns:a16="http://schemas.microsoft.com/office/drawing/2014/main" id="{AF471212-2A63-DEBE-AA9D-0237464CA0A9}"/>
              </a:ext>
            </a:extLst>
          </p:cNvPr>
          <p:cNvSpPr>
            <a:spLocks noGrp="1"/>
          </p:cNvSpPr>
          <p:nvPr>
            <p:ph idx="1"/>
          </p:nvPr>
        </p:nvSpPr>
        <p:spPr>
          <a:xfrm>
            <a:off x="457199" y="943897"/>
            <a:ext cx="8480323" cy="5639465"/>
          </a:xfrm>
        </p:spPr>
        <p:txBody>
          <a:bodyPr>
            <a:noAutofit/>
          </a:bodyPr>
          <a:lstStyle/>
          <a:p>
            <a:pPr marL="0" indent="0">
              <a:buNone/>
            </a:pPr>
            <a:r>
              <a:rPr lang="en-US" sz="1300" b="1" dirty="0"/>
              <a:t>Customer Demographics:</a:t>
            </a:r>
            <a:endParaRPr lang="en-US" sz="1300" dirty="0"/>
          </a:p>
          <a:p>
            <a:pPr marL="742950" lvl="1" indent="-285750">
              <a:buFont typeface="Arial" panose="020B0604020202020204" pitchFamily="34" charset="0"/>
              <a:buChar char="•"/>
            </a:pPr>
            <a:r>
              <a:rPr lang="en-US" sz="1300" dirty="0"/>
              <a:t>The majority of customers are non-senior citizens, with no significant difference in churn risk between senior and non-senior customers.</a:t>
            </a:r>
          </a:p>
          <a:p>
            <a:pPr marL="0" indent="0">
              <a:buNone/>
            </a:pPr>
            <a:r>
              <a:rPr lang="en-US" sz="1300" b="1" dirty="0"/>
              <a:t>Tenure Patterns:</a:t>
            </a:r>
            <a:endParaRPr lang="en-US" sz="1300" dirty="0"/>
          </a:p>
          <a:p>
            <a:pPr marL="742950" lvl="1" indent="-285750">
              <a:buFont typeface="Arial" panose="020B0604020202020204" pitchFamily="34" charset="0"/>
              <a:buChar char="•"/>
            </a:pPr>
            <a:r>
              <a:rPr lang="en-US" sz="1300" dirty="0"/>
              <a:t>Customers tend to either leave early (low tenure) or stay long-term (high tenure), with fewer mid-tenure customers. This suggests churn happens early in customer relationships.</a:t>
            </a:r>
          </a:p>
          <a:p>
            <a:pPr marL="742950" lvl="1" indent="-285750">
              <a:buFont typeface="Arial" panose="020B0604020202020204" pitchFamily="34" charset="0"/>
              <a:buChar char="•"/>
            </a:pPr>
            <a:r>
              <a:rPr lang="en-US" sz="1300" dirty="0"/>
              <a:t>Customers with shorter tenure (under 20 months) and higher monthly charges are more likely to churn, indicating dissatisfaction with value early on.</a:t>
            </a:r>
          </a:p>
          <a:p>
            <a:pPr marL="0" indent="0">
              <a:buNone/>
            </a:pPr>
            <a:r>
              <a:rPr lang="en-US" sz="1300" b="1" dirty="0"/>
              <a:t>Monthly Charges vs. Total Charges:</a:t>
            </a:r>
            <a:endParaRPr lang="en-US" sz="1300" dirty="0"/>
          </a:p>
          <a:p>
            <a:pPr marL="742950" lvl="1" indent="-285750">
              <a:buFont typeface="Arial" panose="020B0604020202020204" pitchFamily="34" charset="0"/>
              <a:buChar char="•"/>
            </a:pPr>
            <a:r>
              <a:rPr lang="en-US" sz="1300" dirty="0"/>
              <a:t>A strong linear relationship exists between Monthly Charges and Total Charges, with higher-paying customers accumulating higher total charges.</a:t>
            </a:r>
          </a:p>
          <a:p>
            <a:pPr marL="742950" lvl="1" indent="-285750">
              <a:buFont typeface="Arial" panose="020B0604020202020204" pitchFamily="34" charset="0"/>
              <a:buChar char="•"/>
            </a:pPr>
            <a:r>
              <a:rPr lang="en-US" sz="1300" dirty="0"/>
              <a:t>There is a higher concentration of churn among customers with higher monthly charges, suggesting dissatisfaction with the perceived value for money.</a:t>
            </a:r>
          </a:p>
          <a:p>
            <a:pPr marL="0" indent="0">
              <a:buNone/>
            </a:pPr>
            <a:r>
              <a:rPr lang="en-US" sz="1300" b="1" dirty="0"/>
              <a:t>Churn Patterns:</a:t>
            </a:r>
            <a:endParaRPr lang="en-US" sz="1300" dirty="0"/>
          </a:p>
          <a:p>
            <a:pPr marL="742950" lvl="1" indent="-285750">
              <a:buFont typeface="Arial" panose="020B0604020202020204" pitchFamily="34" charset="0"/>
              <a:buChar char="•"/>
            </a:pPr>
            <a:r>
              <a:rPr lang="en-US" sz="1300" dirty="0"/>
              <a:t>Short-tenure customers with low Total Charges are at the highest churn risk.</a:t>
            </a:r>
          </a:p>
          <a:p>
            <a:pPr marL="742950" lvl="1" indent="-285750">
              <a:buFont typeface="Arial" panose="020B0604020202020204" pitchFamily="34" charset="0"/>
              <a:buChar char="•"/>
            </a:pPr>
            <a:r>
              <a:rPr lang="en-US" sz="1300" dirty="0"/>
              <a:t>Long-tenure, high-Total Charges customers are the most loyal and valuable to the company</a:t>
            </a:r>
          </a:p>
          <a:p>
            <a:pPr marL="0" indent="0">
              <a:buNone/>
            </a:pPr>
            <a:r>
              <a:rPr lang="en-US" sz="1300" b="1" dirty="0"/>
              <a:t>Retention Strategies:</a:t>
            </a:r>
            <a:endParaRPr lang="en-US" sz="1300" dirty="0"/>
          </a:p>
          <a:p>
            <a:pPr marL="742950" lvl="1" indent="-285750">
              <a:buFont typeface="Arial" panose="020B0604020202020204" pitchFamily="34" charset="0"/>
              <a:buChar char="•"/>
            </a:pPr>
            <a:r>
              <a:rPr lang="en-US" sz="1300" b="1" dirty="0"/>
              <a:t>Target High-Paying, Short-Tenure Customers:</a:t>
            </a:r>
            <a:r>
              <a:rPr lang="en-US" sz="1300" dirty="0"/>
              <a:t> Focus retention efforts on customers with high Monthly Charges but low tenure, who are most likely to churn.</a:t>
            </a:r>
          </a:p>
          <a:p>
            <a:pPr marL="742950" lvl="1" indent="-285750">
              <a:buFont typeface="Arial" panose="020B0604020202020204" pitchFamily="34" charset="0"/>
              <a:buChar char="•"/>
            </a:pPr>
            <a:r>
              <a:rPr lang="en-US" sz="1300" b="1" dirty="0"/>
              <a:t>Short-Tenure Retention:</a:t>
            </a:r>
            <a:r>
              <a:rPr lang="en-US" sz="1300" dirty="0"/>
              <a:t> To reduce churn, implement initiatives such as improved customer service, early engagement offers, and discounts for newer customers.</a:t>
            </a:r>
          </a:p>
          <a:p>
            <a:pPr marL="742950" lvl="1" indent="-285750">
              <a:buFont typeface="Arial" panose="020B0604020202020204" pitchFamily="34" charset="0"/>
              <a:buChar char="•"/>
            </a:pPr>
            <a:r>
              <a:rPr lang="en-US" sz="1300" b="1" dirty="0"/>
              <a:t>Senior Citizens:</a:t>
            </a:r>
            <a:r>
              <a:rPr lang="en-US" sz="1300" dirty="0"/>
              <a:t> Age is not a major factor in churn risk; focus strategies on more relevant churn predictors such as tenure and monthly charges rather than age.</a:t>
            </a:r>
          </a:p>
          <a:p>
            <a:pPr marL="0" indent="0">
              <a:buNone/>
            </a:pPr>
            <a:r>
              <a:rPr lang="en-US" sz="1300" dirty="0"/>
              <a:t>These insights suggest a need for targeted retention plans focused on high-paying, short-tenure customers and improving early customer engagement.</a:t>
            </a:r>
          </a:p>
        </p:txBody>
      </p:sp>
    </p:spTree>
    <p:extLst>
      <p:ext uri="{BB962C8B-B14F-4D97-AF65-F5344CB8AC3E}">
        <p14:creationId xmlns:p14="http://schemas.microsoft.com/office/powerpoint/2010/main" val="40210802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4236B23-1503-A0EA-05AB-4ED7AB275AA4}"/>
              </a:ext>
            </a:extLst>
          </p:cNvPr>
          <p:cNvPicPr>
            <a:picLocks noChangeAspect="1"/>
          </p:cNvPicPr>
          <p:nvPr/>
        </p:nvPicPr>
        <p:blipFill>
          <a:blip r:embed="rId2"/>
          <a:stretch>
            <a:fillRect/>
          </a:stretch>
        </p:blipFill>
        <p:spPr>
          <a:xfrm>
            <a:off x="175752" y="1551871"/>
            <a:ext cx="5310648" cy="4882034"/>
          </a:xfrm>
          <a:prstGeom prst="rect">
            <a:avLst/>
          </a:prstGeom>
        </p:spPr>
      </p:pic>
      <p:sp>
        <p:nvSpPr>
          <p:cNvPr id="6" name="Title 1">
            <a:extLst>
              <a:ext uri="{FF2B5EF4-FFF2-40B4-BE49-F238E27FC236}">
                <a16:creationId xmlns:a16="http://schemas.microsoft.com/office/drawing/2014/main" id="{E8CA70E3-27D9-3E44-8F40-75A9EF4E8C1A}"/>
              </a:ext>
            </a:extLst>
          </p:cNvPr>
          <p:cNvSpPr>
            <a:spLocks noGrp="1"/>
          </p:cNvSpPr>
          <p:nvPr>
            <p:ph type="title"/>
          </p:nvPr>
        </p:nvSpPr>
        <p:spPr>
          <a:xfrm>
            <a:off x="457199" y="274638"/>
            <a:ext cx="8229601" cy="580768"/>
          </a:xfrm>
          <a:solidFill>
            <a:srgbClr val="57093B"/>
          </a:solidFill>
        </p:spPr>
        <p:style>
          <a:lnRef idx="0">
            <a:schemeClr val="accent6"/>
          </a:lnRef>
          <a:fillRef idx="3">
            <a:schemeClr val="accent6"/>
          </a:fillRef>
          <a:effectRef idx="3">
            <a:schemeClr val="accent6"/>
          </a:effectRef>
          <a:fontRef idx="minor">
            <a:schemeClr val="lt1"/>
          </a:fontRef>
        </p:style>
        <p:txBody>
          <a:bodyPr>
            <a:normAutofit/>
          </a:bodyPr>
          <a:lstStyle/>
          <a:p>
            <a:r>
              <a:rPr lang="en-US" sz="2400" dirty="0">
                <a:latin typeface="Barclaycard Co" panose="020B0503060202020204" pitchFamily="34" charset="0"/>
              </a:rPr>
              <a:t>Numerical Data </a:t>
            </a:r>
            <a:r>
              <a:rPr lang="en-US" sz="2400" dirty="0" err="1">
                <a:latin typeface="Barclaycard Co" panose="020B0503060202020204" pitchFamily="34" charset="0"/>
              </a:rPr>
              <a:t>Coorelation</a:t>
            </a:r>
            <a:r>
              <a:rPr lang="en-US" sz="2400" dirty="0">
                <a:latin typeface="Barclaycard Co" panose="020B0503060202020204" pitchFamily="34" charset="0"/>
              </a:rPr>
              <a:t> </a:t>
            </a:r>
          </a:p>
        </p:txBody>
      </p:sp>
      <p:sp>
        <p:nvSpPr>
          <p:cNvPr id="7" name="Title 1">
            <a:extLst>
              <a:ext uri="{FF2B5EF4-FFF2-40B4-BE49-F238E27FC236}">
                <a16:creationId xmlns:a16="http://schemas.microsoft.com/office/drawing/2014/main" id="{4F5AC2E3-509B-1D80-728F-810B287E05C1}"/>
              </a:ext>
            </a:extLst>
          </p:cNvPr>
          <p:cNvSpPr txBox="1">
            <a:spLocks/>
          </p:cNvSpPr>
          <p:nvPr/>
        </p:nvSpPr>
        <p:spPr>
          <a:xfrm>
            <a:off x="5723910" y="3028950"/>
            <a:ext cx="3130038" cy="3404955"/>
          </a:xfrm>
          <a:prstGeom prst="rect">
            <a:avLst/>
          </a:prstGeom>
          <a:solidFill>
            <a:srgbClr val="57093B"/>
          </a:solidFill>
          <a:scene3d>
            <a:camera prst="orthographicFront"/>
            <a:lightRig rig="threePt" dir="t"/>
          </a:scene3d>
          <a:sp3d>
            <a:bevelT w="101600" prst="riblet"/>
          </a:sp3d>
        </p:spPr>
        <p:style>
          <a:lnRef idx="3">
            <a:schemeClr val="lt1"/>
          </a:lnRef>
          <a:fillRef idx="1">
            <a:schemeClr val="accent3"/>
          </a:fillRef>
          <a:effectRef idx="1">
            <a:schemeClr val="accent3"/>
          </a:effectRef>
          <a:fontRef idx="minor">
            <a:schemeClr val="lt1"/>
          </a:fontRef>
        </p:style>
        <p:txBody>
          <a:bodyPr vert="horz" lIns="91440" tIns="45720" rIns="91440" bIns="45720" rtlCol="0" anchor="ctr">
            <a:normAutofit fontScale="92500"/>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nSpc>
                <a:spcPct val="200000"/>
              </a:lnSpc>
            </a:pPr>
            <a:r>
              <a:rPr lang="en-US" sz="1050" dirty="0"/>
              <a:t>The heatmap shows a strong positive correlation between </a:t>
            </a:r>
            <a:r>
              <a:rPr lang="en-US" sz="1050" b="1" dirty="0"/>
              <a:t>tenure</a:t>
            </a:r>
            <a:r>
              <a:rPr lang="en-US" sz="1050" dirty="0"/>
              <a:t> and </a:t>
            </a:r>
            <a:r>
              <a:rPr lang="en-US" sz="1050" b="1" dirty="0" err="1"/>
              <a:t>TotalCharges</a:t>
            </a:r>
            <a:r>
              <a:rPr lang="en-US" sz="1050" dirty="0"/>
              <a:t> (0.82), indicating that long-term customers accumulate higher charges. </a:t>
            </a:r>
            <a:r>
              <a:rPr lang="en-US" sz="1050" b="1" dirty="0" err="1"/>
              <a:t>MonthlyCharges</a:t>
            </a:r>
            <a:r>
              <a:rPr lang="en-US" sz="1050" dirty="0"/>
              <a:t> also moderately correlate with </a:t>
            </a:r>
            <a:r>
              <a:rPr lang="en-US" sz="1050" b="1" dirty="0" err="1"/>
              <a:t>TotalCharges</a:t>
            </a:r>
            <a:r>
              <a:rPr lang="en-US" sz="1050" dirty="0"/>
              <a:t> (0.65), suggesting that high-paying customers contribute more over time. </a:t>
            </a:r>
            <a:r>
              <a:rPr lang="en-US" sz="1050" b="1" dirty="0" err="1"/>
              <a:t>SeniorCitizen</a:t>
            </a:r>
            <a:r>
              <a:rPr lang="en-US" sz="1050" dirty="0"/>
              <a:t> has minimal correlation with other variables, indicating that age has little impact on tenure or charges. This suggests age-specific retention strategies may not be necessary, while focusing on long-term and high-paying customers could be beneficial.</a:t>
            </a:r>
          </a:p>
        </p:txBody>
      </p:sp>
    </p:spTree>
    <p:extLst>
      <p:ext uri="{BB962C8B-B14F-4D97-AF65-F5344CB8AC3E}">
        <p14:creationId xmlns:p14="http://schemas.microsoft.com/office/powerpoint/2010/main" val="41875534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3BE1680-24E4-81A5-148F-39BB0FD2EA50}"/>
              </a:ext>
            </a:extLst>
          </p:cNvPr>
          <p:cNvPicPr>
            <a:picLocks noGrp="1" noChangeAspect="1"/>
          </p:cNvPicPr>
          <p:nvPr>
            <p:ph idx="1"/>
          </p:nvPr>
        </p:nvPicPr>
        <p:blipFill>
          <a:blip r:embed="rId2"/>
          <a:stretch>
            <a:fillRect/>
          </a:stretch>
        </p:blipFill>
        <p:spPr>
          <a:xfrm>
            <a:off x="69223" y="913313"/>
            <a:ext cx="5762932" cy="5760037"/>
          </a:xfrm>
        </p:spPr>
      </p:pic>
      <p:sp>
        <p:nvSpPr>
          <p:cNvPr id="8" name="Title 1">
            <a:extLst>
              <a:ext uri="{FF2B5EF4-FFF2-40B4-BE49-F238E27FC236}">
                <a16:creationId xmlns:a16="http://schemas.microsoft.com/office/drawing/2014/main" id="{8E6170DE-9EB7-91DD-12EC-B8C0D146C1DE}"/>
              </a:ext>
            </a:extLst>
          </p:cNvPr>
          <p:cNvSpPr>
            <a:spLocks noGrp="1"/>
          </p:cNvSpPr>
          <p:nvPr>
            <p:ph type="title"/>
          </p:nvPr>
        </p:nvSpPr>
        <p:spPr>
          <a:xfrm>
            <a:off x="2391234" y="184649"/>
            <a:ext cx="4361529" cy="600433"/>
          </a:xfrm>
          <a:solidFill>
            <a:srgbClr val="57093B"/>
          </a:solidFill>
        </p:spPr>
        <p:style>
          <a:lnRef idx="3">
            <a:schemeClr val="lt1"/>
          </a:lnRef>
          <a:fillRef idx="1">
            <a:schemeClr val="accent6"/>
          </a:fillRef>
          <a:effectRef idx="1">
            <a:schemeClr val="accent6"/>
          </a:effectRef>
          <a:fontRef idx="minor">
            <a:schemeClr val="lt1"/>
          </a:fontRef>
        </p:style>
        <p:txBody>
          <a:bodyPr>
            <a:normAutofit/>
          </a:bodyPr>
          <a:lstStyle/>
          <a:p>
            <a:r>
              <a:rPr lang="en-US" sz="1200" dirty="0"/>
              <a:t>Univariate  Analysis on Categorical Data</a:t>
            </a:r>
          </a:p>
        </p:txBody>
      </p:sp>
      <p:pic>
        <p:nvPicPr>
          <p:cNvPr id="10" name="Picture 9">
            <a:extLst>
              <a:ext uri="{FF2B5EF4-FFF2-40B4-BE49-F238E27FC236}">
                <a16:creationId xmlns:a16="http://schemas.microsoft.com/office/drawing/2014/main" id="{2780DC9F-B06A-6C54-5866-05043658D66A}"/>
              </a:ext>
            </a:extLst>
          </p:cNvPr>
          <p:cNvPicPr>
            <a:picLocks noChangeAspect="1"/>
          </p:cNvPicPr>
          <p:nvPr/>
        </p:nvPicPr>
        <p:blipFill>
          <a:blip r:embed="rId3"/>
          <a:stretch>
            <a:fillRect/>
          </a:stretch>
        </p:blipFill>
        <p:spPr>
          <a:xfrm>
            <a:off x="6006034" y="913314"/>
            <a:ext cx="2778628" cy="5793183"/>
          </a:xfrm>
          <a:prstGeom prst="rect">
            <a:avLst/>
          </a:prstGeom>
        </p:spPr>
      </p:pic>
    </p:spTree>
    <p:extLst>
      <p:ext uri="{BB962C8B-B14F-4D97-AF65-F5344CB8AC3E}">
        <p14:creationId xmlns:p14="http://schemas.microsoft.com/office/powerpoint/2010/main" val="13101267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D052866-36FD-8DD7-E034-A7679FF04F98}"/>
              </a:ext>
            </a:extLst>
          </p:cNvPr>
          <p:cNvPicPr>
            <a:picLocks noChangeAspect="1"/>
          </p:cNvPicPr>
          <p:nvPr/>
        </p:nvPicPr>
        <p:blipFill>
          <a:blip r:embed="rId3"/>
          <a:stretch>
            <a:fillRect/>
          </a:stretch>
        </p:blipFill>
        <p:spPr>
          <a:xfrm>
            <a:off x="786218" y="1439554"/>
            <a:ext cx="3345240" cy="2206998"/>
          </a:xfrm>
          <a:prstGeom prst="rect">
            <a:avLst/>
          </a:prstGeom>
        </p:spPr>
      </p:pic>
      <p:pic>
        <p:nvPicPr>
          <p:cNvPr id="9" name="Picture 8">
            <a:extLst>
              <a:ext uri="{FF2B5EF4-FFF2-40B4-BE49-F238E27FC236}">
                <a16:creationId xmlns:a16="http://schemas.microsoft.com/office/drawing/2014/main" id="{FF22B9CB-BE8F-712D-6D27-B41F0816B319}"/>
              </a:ext>
            </a:extLst>
          </p:cNvPr>
          <p:cNvPicPr>
            <a:picLocks noChangeAspect="1"/>
          </p:cNvPicPr>
          <p:nvPr/>
        </p:nvPicPr>
        <p:blipFill>
          <a:blip r:embed="rId4"/>
          <a:stretch>
            <a:fillRect/>
          </a:stretch>
        </p:blipFill>
        <p:spPr>
          <a:xfrm>
            <a:off x="5072313" y="4164972"/>
            <a:ext cx="3501034" cy="2582475"/>
          </a:xfrm>
          <a:prstGeom prst="rect">
            <a:avLst/>
          </a:prstGeom>
        </p:spPr>
      </p:pic>
      <p:pic>
        <p:nvPicPr>
          <p:cNvPr id="13" name="Picture 12">
            <a:extLst>
              <a:ext uri="{FF2B5EF4-FFF2-40B4-BE49-F238E27FC236}">
                <a16:creationId xmlns:a16="http://schemas.microsoft.com/office/drawing/2014/main" id="{36B278EA-6EE6-9D4C-45ED-85FF1CEED554}"/>
              </a:ext>
            </a:extLst>
          </p:cNvPr>
          <p:cNvPicPr>
            <a:picLocks noChangeAspect="1"/>
          </p:cNvPicPr>
          <p:nvPr/>
        </p:nvPicPr>
        <p:blipFill>
          <a:blip r:embed="rId5"/>
          <a:stretch>
            <a:fillRect/>
          </a:stretch>
        </p:blipFill>
        <p:spPr>
          <a:xfrm>
            <a:off x="5111261" y="1206259"/>
            <a:ext cx="3423138" cy="2673589"/>
          </a:xfrm>
          <a:prstGeom prst="rect">
            <a:avLst/>
          </a:prstGeom>
        </p:spPr>
      </p:pic>
      <p:pic>
        <p:nvPicPr>
          <p:cNvPr id="15" name="Picture 14">
            <a:extLst>
              <a:ext uri="{FF2B5EF4-FFF2-40B4-BE49-F238E27FC236}">
                <a16:creationId xmlns:a16="http://schemas.microsoft.com/office/drawing/2014/main" id="{DE047502-0E42-FFD9-6F30-3B5147EF942F}"/>
              </a:ext>
            </a:extLst>
          </p:cNvPr>
          <p:cNvPicPr>
            <a:picLocks noChangeAspect="1"/>
          </p:cNvPicPr>
          <p:nvPr/>
        </p:nvPicPr>
        <p:blipFill>
          <a:blip r:embed="rId6"/>
          <a:stretch>
            <a:fillRect/>
          </a:stretch>
        </p:blipFill>
        <p:spPr>
          <a:xfrm>
            <a:off x="727217" y="3800880"/>
            <a:ext cx="3501034" cy="2867599"/>
          </a:xfrm>
          <a:prstGeom prst="rect">
            <a:avLst/>
          </a:prstGeom>
        </p:spPr>
      </p:pic>
      <p:sp>
        <p:nvSpPr>
          <p:cNvPr id="16" name="Title 1">
            <a:extLst>
              <a:ext uri="{FF2B5EF4-FFF2-40B4-BE49-F238E27FC236}">
                <a16:creationId xmlns:a16="http://schemas.microsoft.com/office/drawing/2014/main" id="{CC660381-A0DE-8724-ACBC-4CD27C585565}"/>
              </a:ext>
            </a:extLst>
          </p:cNvPr>
          <p:cNvSpPr>
            <a:spLocks noGrp="1"/>
          </p:cNvSpPr>
          <p:nvPr>
            <p:ph type="title"/>
          </p:nvPr>
        </p:nvSpPr>
        <p:spPr>
          <a:xfrm>
            <a:off x="2391234" y="184649"/>
            <a:ext cx="4361529" cy="600433"/>
          </a:xfrm>
          <a:solidFill>
            <a:srgbClr val="57093B"/>
          </a:solidFill>
        </p:spPr>
        <p:style>
          <a:lnRef idx="3">
            <a:schemeClr val="lt1"/>
          </a:lnRef>
          <a:fillRef idx="1">
            <a:schemeClr val="accent6"/>
          </a:fillRef>
          <a:effectRef idx="1">
            <a:schemeClr val="accent6"/>
          </a:effectRef>
          <a:fontRef idx="minor">
            <a:schemeClr val="lt1"/>
          </a:fontRef>
        </p:style>
        <p:txBody>
          <a:bodyPr>
            <a:normAutofit/>
          </a:bodyPr>
          <a:lstStyle/>
          <a:p>
            <a:r>
              <a:rPr lang="en-US" sz="1200" dirty="0"/>
              <a:t>Bivariate  Analysis on Categorical Data</a:t>
            </a:r>
          </a:p>
        </p:txBody>
      </p:sp>
    </p:spTree>
    <p:extLst>
      <p:ext uri="{BB962C8B-B14F-4D97-AF65-F5344CB8AC3E}">
        <p14:creationId xmlns:p14="http://schemas.microsoft.com/office/powerpoint/2010/main" val="34993399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26CF5-993C-2F30-42AD-9992DBF46657}"/>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BDE68451-79EA-B79B-9550-D6599ECDED8A}"/>
              </a:ext>
            </a:extLst>
          </p:cNvPr>
          <p:cNvPicPr>
            <a:picLocks noChangeAspect="1"/>
          </p:cNvPicPr>
          <p:nvPr/>
        </p:nvPicPr>
        <p:blipFill>
          <a:blip r:embed="rId3"/>
          <a:stretch>
            <a:fillRect/>
          </a:stretch>
        </p:blipFill>
        <p:spPr>
          <a:xfrm>
            <a:off x="206477" y="822158"/>
            <a:ext cx="8721213" cy="5966988"/>
          </a:xfrm>
          <a:prstGeom prst="rect">
            <a:avLst/>
          </a:prstGeom>
        </p:spPr>
      </p:pic>
      <p:sp>
        <p:nvSpPr>
          <p:cNvPr id="4" name="Title 1">
            <a:extLst>
              <a:ext uri="{FF2B5EF4-FFF2-40B4-BE49-F238E27FC236}">
                <a16:creationId xmlns:a16="http://schemas.microsoft.com/office/drawing/2014/main" id="{980CC0FC-80B6-0212-B197-3587034184E8}"/>
              </a:ext>
            </a:extLst>
          </p:cNvPr>
          <p:cNvSpPr>
            <a:spLocks noGrp="1"/>
          </p:cNvSpPr>
          <p:nvPr>
            <p:ph type="title"/>
          </p:nvPr>
        </p:nvSpPr>
        <p:spPr>
          <a:xfrm>
            <a:off x="2391234" y="105991"/>
            <a:ext cx="4361529" cy="600433"/>
          </a:xfrm>
          <a:solidFill>
            <a:srgbClr val="57093B"/>
          </a:solidFill>
        </p:spPr>
        <p:style>
          <a:lnRef idx="3">
            <a:schemeClr val="lt1"/>
          </a:lnRef>
          <a:fillRef idx="1">
            <a:schemeClr val="accent6"/>
          </a:fillRef>
          <a:effectRef idx="1">
            <a:schemeClr val="accent6"/>
          </a:effectRef>
          <a:fontRef idx="minor">
            <a:schemeClr val="lt1"/>
          </a:fontRef>
        </p:style>
        <p:txBody>
          <a:bodyPr>
            <a:normAutofit/>
          </a:bodyPr>
          <a:lstStyle/>
          <a:p>
            <a:r>
              <a:rPr lang="en-US" sz="1200" dirty="0"/>
              <a:t>Multivariate  Analysis on Categorical Data</a:t>
            </a:r>
          </a:p>
        </p:txBody>
      </p:sp>
    </p:spTree>
    <p:extLst>
      <p:ext uri="{BB962C8B-B14F-4D97-AF65-F5344CB8AC3E}">
        <p14:creationId xmlns:p14="http://schemas.microsoft.com/office/powerpoint/2010/main" val="20626849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E9AF2-4043-58C8-D5D7-07D75CBA17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C9476E-D764-7A63-2B0B-254B7DE12AD2}"/>
              </a:ext>
            </a:extLst>
          </p:cNvPr>
          <p:cNvSpPr>
            <a:spLocks noGrp="1"/>
          </p:cNvSpPr>
          <p:nvPr>
            <p:ph type="title"/>
          </p:nvPr>
        </p:nvSpPr>
        <p:spPr>
          <a:xfrm>
            <a:off x="457199" y="274638"/>
            <a:ext cx="8229601" cy="551272"/>
          </a:xfrm>
          <a:solidFill>
            <a:srgbClr val="57093B"/>
          </a:solidFill>
        </p:spPr>
        <p:style>
          <a:lnRef idx="0">
            <a:schemeClr val="accent6"/>
          </a:lnRef>
          <a:fillRef idx="3">
            <a:schemeClr val="accent6"/>
          </a:fillRef>
          <a:effectRef idx="3">
            <a:schemeClr val="accent6"/>
          </a:effectRef>
          <a:fontRef idx="minor">
            <a:schemeClr val="lt1"/>
          </a:fontRef>
        </p:style>
        <p:txBody>
          <a:bodyPr>
            <a:normAutofit/>
          </a:bodyPr>
          <a:lstStyle/>
          <a:p>
            <a:r>
              <a:rPr lang="en-US" sz="2400" dirty="0">
                <a:latin typeface="Barclaycard Co" panose="020B0503060202020204" pitchFamily="34" charset="0"/>
              </a:rPr>
              <a:t>Categorical EDA Analysis </a:t>
            </a:r>
          </a:p>
        </p:txBody>
      </p:sp>
      <p:sp>
        <p:nvSpPr>
          <p:cNvPr id="3" name="Content Placeholder 2">
            <a:extLst>
              <a:ext uri="{FF2B5EF4-FFF2-40B4-BE49-F238E27FC236}">
                <a16:creationId xmlns:a16="http://schemas.microsoft.com/office/drawing/2014/main" id="{A9B712B7-8D56-CDF7-946F-609410BE0373}"/>
              </a:ext>
            </a:extLst>
          </p:cNvPr>
          <p:cNvSpPr>
            <a:spLocks noGrp="1"/>
          </p:cNvSpPr>
          <p:nvPr>
            <p:ph idx="1"/>
          </p:nvPr>
        </p:nvSpPr>
        <p:spPr>
          <a:xfrm>
            <a:off x="457200" y="1120877"/>
            <a:ext cx="7860890" cy="5555226"/>
          </a:xfrm>
        </p:spPr>
        <p:txBody>
          <a:bodyPr>
            <a:noAutofit/>
          </a:bodyPr>
          <a:lstStyle/>
          <a:p>
            <a:pPr marL="57150" indent="0">
              <a:lnSpc>
                <a:spcPct val="150000"/>
              </a:lnSpc>
              <a:buNone/>
            </a:pPr>
            <a:r>
              <a:rPr lang="en-US" sz="1400" b="1" dirty="0"/>
              <a:t>Customer Demographics &amp; Churn Patterns:</a:t>
            </a:r>
          </a:p>
          <a:p>
            <a:pPr lvl="1">
              <a:lnSpc>
                <a:spcPct val="150000"/>
              </a:lnSpc>
              <a:buFont typeface="Wingdings" panose="05000000000000000000" pitchFamily="2" charset="2"/>
              <a:buChar char="§"/>
            </a:pPr>
            <a:r>
              <a:rPr lang="en-US" sz="1400" b="1" dirty="0"/>
              <a:t>Gender:</a:t>
            </a:r>
            <a:r>
              <a:rPr lang="en-US" sz="1400" dirty="0"/>
              <a:t> Churn rates are similar between male and female customers, so gender-specific strategies may not be necessary.</a:t>
            </a:r>
          </a:p>
          <a:p>
            <a:pPr lvl="1">
              <a:lnSpc>
                <a:spcPct val="150000"/>
              </a:lnSpc>
              <a:buFont typeface="Wingdings" panose="05000000000000000000" pitchFamily="2" charset="2"/>
              <a:buChar char="§"/>
            </a:pPr>
            <a:r>
              <a:rPr lang="en-US" sz="1400" b="1" dirty="0"/>
              <a:t>Partner &amp; Dependents:</a:t>
            </a:r>
            <a:r>
              <a:rPr lang="en-US" sz="1400" dirty="0"/>
              <a:t> Customers without a partner or dependents are more likely to churn, making them a key focus for retention efforts.</a:t>
            </a:r>
          </a:p>
          <a:p>
            <a:pPr marL="457200" lvl="1" indent="0">
              <a:lnSpc>
                <a:spcPct val="150000"/>
              </a:lnSpc>
              <a:buNone/>
            </a:pPr>
            <a:endParaRPr lang="en-US" sz="1400" dirty="0"/>
          </a:p>
          <a:p>
            <a:pPr marL="57150" indent="0">
              <a:lnSpc>
                <a:spcPct val="150000"/>
              </a:lnSpc>
              <a:buNone/>
            </a:pPr>
            <a:r>
              <a:rPr lang="en-US" sz="1400" b="1" dirty="0"/>
              <a:t>Service Subscription Insights:</a:t>
            </a:r>
          </a:p>
          <a:p>
            <a:pPr lvl="1">
              <a:lnSpc>
                <a:spcPct val="150000"/>
              </a:lnSpc>
              <a:buFont typeface="Wingdings" panose="05000000000000000000" pitchFamily="2" charset="2"/>
              <a:buChar char="§"/>
            </a:pPr>
            <a:r>
              <a:rPr lang="en-US" sz="1400" b="1" dirty="0"/>
              <a:t>Phone Service &amp; Multiple Lines:</a:t>
            </a:r>
            <a:r>
              <a:rPr lang="en-US" sz="1400" dirty="0"/>
              <a:t> Most customers have phone service, and those with multiple lines are less likely to churn. Offering discounts for adding multiple lines could increase retention.</a:t>
            </a:r>
          </a:p>
          <a:p>
            <a:pPr lvl="1">
              <a:lnSpc>
                <a:spcPct val="150000"/>
              </a:lnSpc>
              <a:buFont typeface="Wingdings" panose="05000000000000000000" pitchFamily="2" charset="2"/>
              <a:buChar char="§"/>
            </a:pPr>
            <a:r>
              <a:rPr lang="en-US" sz="1400" b="1" dirty="0"/>
              <a:t>Internet Service:</a:t>
            </a:r>
            <a:r>
              <a:rPr lang="en-US" sz="1400" dirty="0"/>
              <a:t> Fiber optic customers show higher churn rates compared to DSL users. Retention strategies should focus on these high-value customers.</a:t>
            </a:r>
          </a:p>
          <a:p>
            <a:pPr lvl="1">
              <a:lnSpc>
                <a:spcPct val="150000"/>
              </a:lnSpc>
              <a:buFont typeface="Wingdings" panose="05000000000000000000" pitchFamily="2" charset="2"/>
              <a:buChar char="§"/>
            </a:pPr>
            <a:r>
              <a:rPr lang="en-US" sz="1400" b="1" dirty="0"/>
              <a:t>Online Services (Security, Backup, Device Protection):</a:t>
            </a:r>
            <a:r>
              <a:rPr lang="en-US" sz="1400" dirty="0"/>
              <a:t> Customers without these services are more likely to churn. Cross-sell and upsell these services to increase retention.</a:t>
            </a:r>
          </a:p>
          <a:p>
            <a:pPr lvl="1">
              <a:lnSpc>
                <a:spcPct val="150000"/>
              </a:lnSpc>
              <a:buFont typeface="Wingdings" panose="05000000000000000000" pitchFamily="2" charset="2"/>
              <a:buChar char="§"/>
            </a:pPr>
            <a:r>
              <a:rPr lang="en-US" sz="1400" b="1" dirty="0"/>
              <a:t>Streaming Services:</a:t>
            </a:r>
            <a:r>
              <a:rPr lang="en-US" sz="1400" dirty="0"/>
              <a:t> Customers without streaming TV or movie services are more likely to churn. Bundle these services with internet or phone plans.</a:t>
            </a:r>
          </a:p>
          <a:p>
            <a:pPr marL="457200" lvl="1" indent="0">
              <a:lnSpc>
                <a:spcPct val="150000"/>
              </a:lnSpc>
              <a:buNone/>
            </a:pPr>
            <a:endParaRPr lang="en-US" sz="1400" dirty="0"/>
          </a:p>
        </p:txBody>
      </p:sp>
    </p:spTree>
    <p:extLst>
      <p:ext uri="{BB962C8B-B14F-4D97-AF65-F5344CB8AC3E}">
        <p14:creationId xmlns:p14="http://schemas.microsoft.com/office/powerpoint/2010/main" val="17009215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6A159-075C-85BC-8AAD-897D1CB51F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8C6808-0098-1992-3619-A295F51D01AA}"/>
              </a:ext>
            </a:extLst>
          </p:cNvPr>
          <p:cNvSpPr>
            <a:spLocks noGrp="1"/>
          </p:cNvSpPr>
          <p:nvPr>
            <p:ph type="title"/>
          </p:nvPr>
        </p:nvSpPr>
        <p:spPr>
          <a:xfrm>
            <a:off x="457199" y="274638"/>
            <a:ext cx="8229601" cy="551272"/>
          </a:xfrm>
          <a:solidFill>
            <a:srgbClr val="57093B"/>
          </a:solidFill>
        </p:spPr>
        <p:style>
          <a:lnRef idx="0">
            <a:schemeClr val="accent6"/>
          </a:lnRef>
          <a:fillRef idx="3">
            <a:schemeClr val="accent6"/>
          </a:fillRef>
          <a:effectRef idx="3">
            <a:schemeClr val="accent6"/>
          </a:effectRef>
          <a:fontRef idx="minor">
            <a:schemeClr val="lt1"/>
          </a:fontRef>
        </p:style>
        <p:txBody>
          <a:bodyPr>
            <a:normAutofit/>
          </a:bodyPr>
          <a:lstStyle/>
          <a:p>
            <a:r>
              <a:rPr lang="en-US" sz="2400" dirty="0">
                <a:latin typeface="Barclaycard Co" panose="020B0503060202020204" pitchFamily="34" charset="0"/>
              </a:rPr>
              <a:t>Categorical EDA Analysis         cont’d </a:t>
            </a:r>
          </a:p>
        </p:txBody>
      </p:sp>
      <p:sp>
        <p:nvSpPr>
          <p:cNvPr id="3" name="Content Placeholder 2">
            <a:extLst>
              <a:ext uri="{FF2B5EF4-FFF2-40B4-BE49-F238E27FC236}">
                <a16:creationId xmlns:a16="http://schemas.microsoft.com/office/drawing/2014/main" id="{A6DDB77E-9571-9C79-8107-F44A9FCEAD68}"/>
              </a:ext>
            </a:extLst>
          </p:cNvPr>
          <p:cNvSpPr>
            <a:spLocks noGrp="1"/>
          </p:cNvSpPr>
          <p:nvPr>
            <p:ph idx="1"/>
          </p:nvPr>
        </p:nvSpPr>
        <p:spPr>
          <a:xfrm>
            <a:off x="457199" y="1120876"/>
            <a:ext cx="8067675" cy="5641873"/>
          </a:xfrm>
        </p:spPr>
        <p:txBody>
          <a:bodyPr>
            <a:noAutofit/>
          </a:bodyPr>
          <a:lstStyle/>
          <a:p>
            <a:pPr marL="57150" indent="0">
              <a:lnSpc>
                <a:spcPct val="150000"/>
              </a:lnSpc>
              <a:buNone/>
            </a:pPr>
            <a:r>
              <a:rPr lang="en-US" sz="1400" b="1" dirty="0"/>
              <a:t>Contract &amp; Payment Methods:</a:t>
            </a:r>
          </a:p>
          <a:p>
            <a:pPr lvl="1">
              <a:lnSpc>
                <a:spcPct val="150000"/>
              </a:lnSpc>
              <a:buFont typeface="Wingdings" panose="05000000000000000000" pitchFamily="2" charset="2"/>
              <a:buChar char="§"/>
            </a:pPr>
            <a:r>
              <a:rPr lang="en-US" sz="1400" b="1" dirty="0"/>
              <a:t>Month-to-Month Contracts:</a:t>
            </a:r>
            <a:r>
              <a:rPr lang="en-US" sz="1400" dirty="0"/>
              <a:t> Customers on month-to-month contracts have the highest churn rate. Focus on converting them to longer-term contracts with incentives or discounts.</a:t>
            </a:r>
          </a:p>
          <a:p>
            <a:pPr lvl="1">
              <a:lnSpc>
                <a:spcPct val="150000"/>
              </a:lnSpc>
              <a:buFont typeface="Wingdings" panose="05000000000000000000" pitchFamily="2" charset="2"/>
              <a:buChar char="§"/>
            </a:pPr>
            <a:r>
              <a:rPr lang="en-US" sz="1400" b="1" dirty="0"/>
              <a:t>Electronic Check Payments:</a:t>
            </a:r>
            <a:r>
              <a:rPr lang="en-US" sz="1400" dirty="0"/>
              <a:t> These customers are more likely to churn compared to those using automatic payments. Promote automatic payment options (bank transfer or credit card) to reduce churn.</a:t>
            </a:r>
            <a:endParaRPr lang="en-US" sz="1400" b="1" dirty="0"/>
          </a:p>
          <a:p>
            <a:pPr marL="0" indent="0">
              <a:lnSpc>
                <a:spcPct val="150000"/>
              </a:lnSpc>
              <a:buNone/>
            </a:pPr>
            <a:endParaRPr lang="en-US" sz="1400" b="1" dirty="0"/>
          </a:p>
          <a:p>
            <a:pPr marL="0" indent="0">
              <a:lnSpc>
                <a:spcPct val="150000"/>
              </a:lnSpc>
              <a:buNone/>
            </a:pPr>
            <a:r>
              <a:rPr lang="en-US" sz="1400" b="1" dirty="0"/>
              <a:t>Cross-Selling &amp; Bundling Opportunities:</a:t>
            </a:r>
          </a:p>
          <a:p>
            <a:pPr lvl="1">
              <a:lnSpc>
                <a:spcPct val="150000"/>
              </a:lnSpc>
              <a:buFont typeface="Wingdings" panose="05000000000000000000" pitchFamily="2" charset="2"/>
              <a:buChar char="§"/>
            </a:pPr>
            <a:r>
              <a:rPr lang="en-US" sz="1400" b="1" dirty="0"/>
              <a:t>Upsell Undersubscribed Services:</a:t>
            </a:r>
            <a:r>
              <a:rPr lang="en-US" sz="1400" dirty="0"/>
              <a:t> Services like online security, tech support, and device protection correlate with lower churn. Bundling these services can increase customer stickiness.</a:t>
            </a:r>
          </a:p>
          <a:p>
            <a:pPr lvl="1">
              <a:lnSpc>
                <a:spcPct val="150000"/>
              </a:lnSpc>
              <a:buFont typeface="Wingdings" panose="05000000000000000000" pitchFamily="2" charset="2"/>
              <a:buChar char="§"/>
            </a:pPr>
            <a:r>
              <a:rPr lang="en-US" sz="1400" b="1" dirty="0"/>
              <a:t>Bundling Services for Single-Service Users:</a:t>
            </a:r>
            <a:r>
              <a:rPr lang="en-US" sz="1400" dirty="0"/>
              <a:t> Customers who only use one service are more likely to churn. Offer bundled packages (phone, internet, and streaming) to increase satisfaction.</a:t>
            </a:r>
          </a:p>
          <a:p>
            <a:pPr lvl="1">
              <a:lnSpc>
                <a:spcPct val="150000"/>
              </a:lnSpc>
              <a:buFont typeface="Wingdings" panose="05000000000000000000" pitchFamily="2" charset="2"/>
              <a:buChar char="§"/>
            </a:pPr>
            <a:endParaRPr lang="en-US" sz="1400" dirty="0"/>
          </a:p>
          <a:p>
            <a:pPr marL="57150" indent="0">
              <a:lnSpc>
                <a:spcPct val="150000"/>
              </a:lnSpc>
              <a:buNone/>
            </a:pPr>
            <a:r>
              <a:rPr lang="en-US" sz="1400" b="1" dirty="0"/>
              <a:t>Senior Citizens:</a:t>
            </a:r>
          </a:p>
          <a:p>
            <a:pPr lvl="1">
              <a:lnSpc>
                <a:spcPct val="150000"/>
              </a:lnSpc>
              <a:buFont typeface="Wingdings" panose="05000000000000000000" pitchFamily="2" charset="2"/>
              <a:buChar char="§"/>
            </a:pPr>
            <a:r>
              <a:rPr lang="en-US" sz="1400" dirty="0"/>
              <a:t>Senior citizens, particularly on fiber optic plans, are more likely to churn. Offering simplified, affordable plans for this group can improve retention.</a:t>
            </a:r>
          </a:p>
          <a:p>
            <a:pPr lvl="1">
              <a:lnSpc>
                <a:spcPct val="150000"/>
              </a:lnSpc>
              <a:buFont typeface="Wingdings" panose="05000000000000000000" pitchFamily="2" charset="2"/>
              <a:buChar char="§"/>
            </a:pPr>
            <a:endParaRPr lang="en-US" sz="1400" dirty="0"/>
          </a:p>
        </p:txBody>
      </p:sp>
    </p:spTree>
    <p:extLst>
      <p:ext uri="{BB962C8B-B14F-4D97-AF65-F5344CB8AC3E}">
        <p14:creationId xmlns:p14="http://schemas.microsoft.com/office/powerpoint/2010/main" val="24392715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0B5AE-0C82-634A-134C-0FE9F77E3DCF}"/>
              </a:ext>
            </a:extLst>
          </p:cNvPr>
          <p:cNvSpPr>
            <a:spLocks noGrp="1"/>
          </p:cNvSpPr>
          <p:nvPr>
            <p:ph type="title"/>
          </p:nvPr>
        </p:nvSpPr>
        <p:spPr>
          <a:xfrm>
            <a:off x="0" y="5871318"/>
            <a:ext cx="4361529" cy="600433"/>
          </a:xfrm>
          <a:solidFill>
            <a:schemeClr val="accent3">
              <a:lumMod val="50000"/>
            </a:schemeClr>
          </a:solidFill>
        </p:spPr>
        <p:style>
          <a:lnRef idx="3">
            <a:schemeClr val="lt1"/>
          </a:lnRef>
          <a:fillRef idx="1">
            <a:schemeClr val="accent6"/>
          </a:fillRef>
          <a:effectRef idx="1">
            <a:schemeClr val="accent6"/>
          </a:effectRef>
          <a:fontRef idx="minor">
            <a:schemeClr val="lt1"/>
          </a:fontRef>
        </p:style>
        <p:txBody>
          <a:bodyPr>
            <a:normAutofit/>
          </a:bodyPr>
          <a:lstStyle/>
          <a:p>
            <a:r>
              <a:rPr lang="en-US" sz="1200" dirty="0"/>
              <a:t>Customers with higher monthly charges are more likely to churn. </a:t>
            </a:r>
            <a:br>
              <a:rPr lang="en-US" sz="1200" dirty="0"/>
            </a:br>
            <a:r>
              <a:rPr lang="en-US" sz="1200" dirty="0"/>
              <a:t>Offering discounts or loyalty programs could reduce churn.</a:t>
            </a:r>
          </a:p>
        </p:txBody>
      </p:sp>
      <p:pic>
        <p:nvPicPr>
          <p:cNvPr id="4" name="Content Placeholder 3" descr="image.png">
            <a:extLst>
              <a:ext uri="{FF2B5EF4-FFF2-40B4-BE49-F238E27FC236}">
                <a16:creationId xmlns:a16="http://schemas.microsoft.com/office/drawing/2014/main" id="{30824092-9F95-1E82-0A5E-D1DFC7232FEA}"/>
              </a:ext>
            </a:extLst>
          </p:cNvPr>
          <p:cNvPicPr>
            <a:picLocks noGrp="1" noChangeAspect="1"/>
          </p:cNvPicPr>
          <p:nvPr>
            <p:ph idx="1"/>
          </p:nvPr>
        </p:nvPicPr>
        <p:blipFill>
          <a:blip r:embed="rId2"/>
          <a:stretch>
            <a:fillRect/>
          </a:stretch>
        </p:blipFill>
        <p:spPr>
          <a:xfrm>
            <a:off x="0" y="2450005"/>
            <a:ext cx="4814806" cy="3209870"/>
          </a:xfrm>
          <a:prstGeom prst="rect">
            <a:avLst/>
          </a:prstGeom>
        </p:spPr>
      </p:pic>
      <p:pic>
        <p:nvPicPr>
          <p:cNvPr id="3" name="Content Placeholder 3" descr="image.png"/>
          <p:cNvPicPr>
            <a:picLocks noChangeAspect="1"/>
          </p:cNvPicPr>
          <p:nvPr/>
        </p:nvPicPr>
        <p:blipFill>
          <a:blip r:embed="rId3"/>
          <a:stretch>
            <a:fillRect/>
          </a:stretch>
        </p:blipFill>
        <p:spPr>
          <a:xfrm>
            <a:off x="4494571" y="2533705"/>
            <a:ext cx="4563704" cy="3042469"/>
          </a:xfrm>
          <a:prstGeom prst="rect">
            <a:avLst/>
          </a:prstGeom>
        </p:spPr>
      </p:pic>
      <p:sp>
        <p:nvSpPr>
          <p:cNvPr id="5" name="Title 1">
            <a:extLst>
              <a:ext uri="{FF2B5EF4-FFF2-40B4-BE49-F238E27FC236}">
                <a16:creationId xmlns:a16="http://schemas.microsoft.com/office/drawing/2014/main" id="{8808EBB8-9E6C-E999-64C5-6F9386F6E98C}"/>
              </a:ext>
            </a:extLst>
          </p:cNvPr>
          <p:cNvSpPr txBox="1">
            <a:spLocks/>
          </p:cNvSpPr>
          <p:nvPr/>
        </p:nvSpPr>
        <p:spPr>
          <a:xfrm>
            <a:off x="4611023" y="5871318"/>
            <a:ext cx="4361527" cy="619432"/>
          </a:xfrm>
          <a:prstGeom prst="rect">
            <a:avLst/>
          </a:prstGeom>
          <a:solidFill>
            <a:schemeClr val="accent3">
              <a:lumMod val="50000"/>
            </a:schemeClr>
          </a:solidFill>
        </p:spPr>
        <p:style>
          <a:lnRef idx="3">
            <a:schemeClr val="lt1"/>
          </a:lnRef>
          <a:fillRef idx="1">
            <a:schemeClr val="accent3"/>
          </a:fillRef>
          <a:effectRef idx="1">
            <a:schemeClr val="accent3"/>
          </a:effectRef>
          <a:fontRef idx="minor">
            <a:schemeClr val="lt1"/>
          </a:fontRef>
        </p:style>
        <p:txBody>
          <a:bodyPr vert="horz" lIns="91440" tIns="45720" rIns="91440" bIns="45720" rtlCol="0" anchor="ctr">
            <a:normAutofit lnSpcReduction="10000"/>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200" dirty="0"/>
              <a:t>Customers on month-to-month contracts churn at significantly higher rates. </a:t>
            </a:r>
            <a:br>
              <a:rPr lang="en-US" sz="1200" dirty="0"/>
            </a:br>
            <a:r>
              <a:rPr lang="en-US" sz="1200" dirty="0"/>
              <a:t>Longer-term contracts (1-year, 2-year) show much lower churn.</a:t>
            </a:r>
          </a:p>
        </p:txBody>
      </p:sp>
      <p:sp>
        <p:nvSpPr>
          <p:cNvPr id="7" name="TextBox 6">
            <a:extLst>
              <a:ext uri="{FF2B5EF4-FFF2-40B4-BE49-F238E27FC236}">
                <a16:creationId xmlns:a16="http://schemas.microsoft.com/office/drawing/2014/main" id="{2E7123BE-05FE-810D-FFA6-F45DDCFED08A}"/>
              </a:ext>
            </a:extLst>
          </p:cNvPr>
          <p:cNvSpPr txBox="1"/>
          <p:nvPr/>
        </p:nvSpPr>
        <p:spPr>
          <a:xfrm>
            <a:off x="278876" y="312958"/>
            <a:ext cx="8312674" cy="2031325"/>
          </a:xfrm>
          <a:prstGeom prst="rect">
            <a:avLst/>
          </a:prstGeom>
          <a:noFill/>
        </p:spPr>
        <p:txBody>
          <a:bodyPr wrap="square">
            <a:spAutoFit/>
          </a:bodyPr>
          <a:lstStyle/>
          <a:p>
            <a:pPr marL="57150" indent="0">
              <a:buNone/>
            </a:pPr>
            <a:r>
              <a:rPr lang="en-US" sz="1400" b="1" dirty="0"/>
              <a:t>High Monthly Charges:</a:t>
            </a:r>
          </a:p>
          <a:p>
            <a:pPr lvl="1">
              <a:buFont typeface="Wingdings" panose="05000000000000000000" pitchFamily="2" charset="2"/>
              <a:buChar char="§"/>
            </a:pPr>
            <a:r>
              <a:rPr lang="en-US" sz="1400" dirty="0"/>
              <a:t>Customers with high monthly charges but fewer added services are more prone to churn. Offer tiered plans, discounts, or added services to retain these customers.</a:t>
            </a:r>
          </a:p>
          <a:p>
            <a:pPr marL="457200" lvl="1" indent="0">
              <a:buNone/>
            </a:pPr>
            <a:endParaRPr lang="en-US" sz="1400" dirty="0"/>
          </a:p>
          <a:p>
            <a:pPr marL="57150" indent="0">
              <a:buNone/>
            </a:pPr>
            <a:r>
              <a:rPr lang="en-US" sz="1400" b="1" dirty="0"/>
              <a:t>General Retention Strategy:</a:t>
            </a:r>
          </a:p>
          <a:p>
            <a:pPr lvl="1">
              <a:buFont typeface="Wingdings" panose="05000000000000000000" pitchFamily="2" charset="2"/>
              <a:buChar char="§"/>
            </a:pPr>
            <a:r>
              <a:rPr lang="en-US" sz="1400" b="1" dirty="0"/>
              <a:t>Focus on High-Risk Segments:</a:t>
            </a:r>
            <a:r>
              <a:rPr lang="en-US" sz="1400" dirty="0"/>
              <a:t> High-paying, month-to-month customers and those on fiber optic plans or using electronic checks should be prioritized for retention efforts.</a:t>
            </a:r>
          </a:p>
          <a:p>
            <a:pPr lvl="1">
              <a:buFont typeface="Wingdings" panose="05000000000000000000" pitchFamily="2" charset="2"/>
              <a:buChar char="§"/>
            </a:pPr>
            <a:r>
              <a:rPr lang="en-US" sz="1400" b="1" dirty="0"/>
              <a:t>Encourage Long-Term Contracts:</a:t>
            </a:r>
            <a:r>
              <a:rPr lang="en-US" sz="1400" dirty="0"/>
              <a:t> Offering incentives for customers to switch from month-to-month to longer-term contracts is key to reducing churn.</a:t>
            </a:r>
          </a:p>
        </p:txBody>
      </p:sp>
    </p:spTree>
    <p:extLst>
      <p:ext uri="{BB962C8B-B14F-4D97-AF65-F5344CB8AC3E}">
        <p14:creationId xmlns:p14="http://schemas.microsoft.com/office/powerpoint/2010/main" val="2061139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8D2B3-1BB8-E689-5671-D460922E1C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18E8FB-8D32-591B-4CB2-D819833EC31B}"/>
              </a:ext>
            </a:extLst>
          </p:cNvPr>
          <p:cNvSpPr>
            <a:spLocks noGrp="1"/>
          </p:cNvSpPr>
          <p:nvPr>
            <p:ph type="title"/>
          </p:nvPr>
        </p:nvSpPr>
        <p:spPr>
          <a:xfrm>
            <a:off x="457199" y="274638"/>
            <a:ext cx="8229601" cy="580768"/>
          </a:xfrm>
          <a:solidFill>
            <a:srgbClr val="57093B"/>
          </a:solidFill>
        </p:spPr>
        <p:style>
          <a:lnRef idx="0">
            <a:schemeClr val="accent6"/>
          </a:lnRef>
          <a:fillRef idx="3">
            <a:schemeClr val="accent6"/>
          </a:fillRef>
          <a:effectRef idx="3">
            <a:schemeClr val="accent6"/>
          </a:effectRef>
          <a:fontRef idx="minor">
            <a:schemeClr val="lt1"/>
          </a:fontRef>
        </p:style>
        <p:txBody>
          <a:bodyPr>
            <a:normAutofit/>
          </a:bodyPr>
          <a:lstStyle/>
          <a:p>
            <a:r>
              <a:rPr lang="en-US" sz="2400" dirty="0">
                <a:latin typeface="Barclaycard Co" panose="020B0503060202020204" pitchFamily="34" charset="0"/>
              </a:rPr>
              <a:t>EDA Conclusion/Recommendation</a:t>
            </a:r>
          </a:p>
        </p:txBody>
      </p:sp>
      <p:sp>
        <p:nvSpPr>
          <p:cNvPr id="3" name="Content Placeholder 2">
            <a:extLst>
              <a:ext uri="{FF2B5EF4-FFF2-40B4-BE49-F238E27FC236}">
                <a16:creationId xmlns:a16="http://schemas.microsoft.com/office/drawing/2014/main" id="{B3A29FE7-04AB-13A5-2D3B-B28A442D6A72}"/>
              </a:ext>
            </a:extLst>
          </p:cNvPr>
          <p:cNvSpPr>
            <a:spLocks noGrp="1"/>
          </p:cNvSpPr>
          <p:nvPr>
            <p:ph idx="1"/>
          </p:nvPr>
        </p:nvSpPr>
        <p:spPr>
          <a:xfrm>
            <a:off x="457200" y="1600200"/>
            <a:ext cx="8229600" cy="4525963"/>
          </a:xfrm>
        </p:spPr>
        <p:txBody>
          <a:bodyPr>
            <a:normAutofit/>
          </a:bodyPr>
          <a:lstStyle/>
          <a:p>
            <a:r>
              <a:rPr lang="en-US" sz="1800" dirty="0"/>
              <a:t>The exploratory data analysis (EDA) reveals several key factors influencing customer churn at Connect Tel. High churn rates are strongly associated with month-to-month contracts, electronic check payments, and customers without bundled services like online security, backup, or tech support. Additionally, fiber optic users and customers without partners or dependents show higher churn tendencies. Senior citizens, particularly on fiber plans, are also at higher risk.</a:t>
            </a:r>
          </a:p>
          <a:p>
            <a:endParaRPr lang="en-US" sz="1800" dirty="0"/>
          </a:p>
          <a:p>
            <a:r>
              <a:rPr lang="en-US" sz="1800" dirty="0"/>
              <a:t>To address these issues, Connect Tel should focus on converting month-to-month customers to longer-term contracts, upselling and cross-selling underutilized services, promoting automatic payment methods, and </a:t>
            </a:r>
            <a:r>
              <a:rPr lang="en-US" sz="1800" dirty="0" err="1"/>
              <a:t>ohelp</a:t>
            </a:r>
            <a:r>
              <a:rPr lang="en-US" sz="1800" dirty="0"/>
              <a:t> reduce churn, improve customer loyalty, and ensure sustained business </a:t>
            </a:r>
            <a:r>
              <a:rPr lang="en-US" sz="1800" dirty="0" err="1"/>
              <a:t>growth.ffering</a:t>
            </a:r>
            <a:r>
              <a:rPr lang="en-US" sz="1800" dirty="0"/>
              <a:t> targeted retention strategies for high-risk customer groups. Implementing these strategies will</a:t>
            </a:r>
          </a:p>
        </p:txBody>
      </p:sp>
    </p:spTree>
    <p:extLst>
      <p:ext uri="{BB962C8B-B14F-4D97-AF65-F5344CB8AC3E}">
        <p14:creationId xmlns:p14="http://schemas.microsoft.com/office/powerpoint/2010/main" val="605217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E892C-FF7D-EAF2-D5F4-1A33A37854D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2A3036-6EB9-6672-8F0B-F194F19D9265}"/>
              </a:ext>
            </a:extLst>
          </p:cNvPr>
          <p:cNvSpPr>
            <a:spLocks noGrp="1"/>
          </p:cNvSpPr>
          <p:nvPr>
            <p:ph idx="1"/>
          </p:nvPr>
        </p:nvSpPr>
        <p:spPr>
          <a:xfrm>
            <a:off x="457199" y="1390650"/>
            <a:ext cx="8229601" cy="4941989"/>
          </a:xfrm>
        </p:spPr>
        <p:txBody>
          <a:bodyPr>
            <a:normAutofit/>
          </a:bodyPr>
          <a:lstStyle/>
          <a:p>
            <a:pPr marL="0" indent="0">
              <a:buNone/>
            </a:pPr>
            <a:r>
              <a:rPr lang="en-US" sz="1800" dirty="0"/>
              <a:t>In this analysis, we employed several machine learning classifiers to build predictive models, including:</a:t>
            </a:r>
          </a:p>
          <a:p>
            <a:pPr lvl="1">
              <a:buFont typeface="Arial" panose="020B0604020202020204" pitchFamily="34" charset="0"/>
              <a:buChar char="•"/>
            </a:pPr>
            <a:r>
              <a:rPr lang="en-US" sz="1800" dirty="0"/>
              <a:t>XGB Classifier</a:t>
            </a:r>
          </a:p>
          <a:p>
            <a:pPr lvl="1">
              <a:buFont typeface="Arial" panose="020B0604020202020204" pitchFamily="34" charset="0"/>
              <a:buChar char="•"/>
            </a:pPr>
            <a:r>
              <a:rPr lang="en-US" sz="1800" dirty="0"/>
              <a:t>Random Forest Classifier</a:t>
            </a:r>
          </a:p>
          <a:p>
            <a:pPr lvl="1">
              <a:buFont typeface="Arial" panose="020B0604020202020204" pitchFamily="34" charset="0"/>
              <a:buChar char="•"/>
            </a:pPr>
            <a:r>
              <a:rPr lang="en-US" sz="1800" dirty="0"/>
              <a:t>K-Nearest Neighbors Classifier</a:t>
            </a:r>
          </a:p>
          <a:p>
            <a:pPr lvl="1">
              <a:buFont typeface="Arial" panose="020B0604020202020204" pitchFamily="34" charset="0"/>
              <a:buChar char="•"/>
            </a:pPr>
            <a:r>
              <a:rPr lang="en-US" sz="1800" dirty="0"/>
              <a:t>Stochastic Gradient Descent (SGD) Classifier</a:t>
            </a:r>
          </a:p>
          <a:p>
            <a:pPr lvl="1">
              <a:buFont typeface="Arial" panose="020B0604020202020204" pitchFamily="34" charset="0"/>
              <a:buChar char="•"/>
            </a:pPr>
            <a:r>
              <a:rPr lang="en-US" sz="1800" dirty="0"/>
              <a:t>Support Vector Classifier (SVC)</a:t>
            </a:r>
          </a:p>
          <a:p>
            <a:pPr lvl="1">
              <a:buFont typeface="Arial" panose="020B0604020202020204" pitchFamily="34" charset="0"/>
              <a:buChar char="•"/>
            </a:pPr>
            <a:r>
              <a:rPr lang="en-US" sz="1800" dirty="0"/>
              <a:t>Naive Bayes (Gaussian NB)</a:t>
            </a:r>
          </a:p>
          <a:p>
            <a:pPr lvl="1">
              <a:buFont typeface="Arial" panose="020B0604020202020204" pitchFamily="34" charset="0"/>
              <a:buChar char="•"/>
            </a:pPr>
            <a:r>
              <a:rPr lang="en-US" sz="1800" dirty="0"/>
              <a:t>Decision Tree Classifier</a:t>
            </a:r>
          </a:p>
          <a:p>
            <a:pPr lvl="1">
              <a:buFont typeface="Arial" panose="020B0604020202020204" pitchFamily="34" charset="0"/>
              <a:buChar char="•"/>
            </a:pPr>
            <a:r>
              <a:rPr lang="en-US" sz="1800" dirty="0"/>
              <a:t>Logistic Regression</a:t>
            </a:r>
          </a:p>
          <a:p>
            <a:pPr lvl="1">
              <a:buFont typeface="Arial" panose="020B0604020202020204" pitchFamily="34" charset="0"/>
              <a:buChar char="•"/>
            </a:pPr>
            <a:endParaRPr lang="en-US" sz="1800" dirty="0"/>
          </a:p>
          <a:p>
            <a:pPr lvl="1">
              <a:buFont typeface="Arial" panose="020B0604020202020204" pitchFamily="34" charset="0"/>
              <a:buChar char="•"/>
            </a:pPr>
            <a:endParaRPr lang="en-US" sz="1800" dirty="0"/>
          </a:p>
          <a:p>
            <a:pPr marL="457200" lvl="1" indent="0">
              <a:buNone/>
            </a:pPr>
            <a:r>
              <a:rPr lang="en-US" sz="1800" dirty="0"/>
              <a:t>But first, we do feature engineering to split the data into features and labels then using a standard scaler we scale them to fit for best output and results .</a:t>
            </a:r>
          </a:p>
        </p:txBody>
      </p:sp>
      <p:sp>
        <p:nvSpPr>
          <p:cNvPr id="2" name="Title 1">
            <a:extLst>
              <a:ext uri="{FF2B5EF4-FFF2-40B4-BE49-F238E27FC236}">
                <a16:creationId xmlns:a16="http://schemas.microsoft.com/office/drawing/2014/main" id="{2C7CD259-573A-CD46-613F-CFF1142497B2}"/>
              </a:ext>
            </a:extLst>
          </p:cNvPr>
          <p:cNvSpPr>
            <a:spLocks noGrp="1"/>
          </p:cNvSpPr>
          <p:nvPr>
            <p:ph type="title"/>
          </p:nvPr>
        </p:nvSpPr>
        <p:spPr>
          <a:xfrm>
            <a:off x="457199" y="274638"/>
            <a:ext cx="8229601" cy="580768"/>
          </a:xfrm>
          <a:solidFill>
            <a:srgbClr val="57093B"/>
          </a:solidFill>
        </p:spPr>
        <p:style>
          <a:lnRef idx="0">
            <a:schemeClr val="accent6"/>
          </a:lnRef>
          <a:fillRef idx="3">
            <a:schemeClr val="accent6"/>
          </a:fillRef>
          <a:effectRef idx="3">
            <a:schemeClr val="accent6"/>
          </a:effectRef>
          <a:fontRef idx="minor">
            <a:schemeClr val="lt1"/>
          </a:fontRef>
        </p:style>
        <p:txBody>
          <a:bodyPr>
            <a:normAutofit/>
          </a:bodyPr>
          <a:lstStyle/>
          <a:p>
            <a:r>
              <a:rPr lang="en-US" sz="2400" dirty="0">
                <a:latin typeface="Barclaycard Co" panose="020B0503060202020204" pitchFamily="34" charset="0"/>
              </a:rPr>
              <a:t>Modelling/ML</a:t>
            </a:r>
          </a:p>
        </p:txBody>
      </p:sp>
    </p:spTree>
    <p:extLst>
      <p:ext uri="{BB962C8B-B14F-4D97-AF65-F5344CB8AC3E}">
        <p14:creationId xmlns:p14="http://schemas.microsoft.com/office/powerpoint/2010/main" val="6195019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53D8A-5A2B-7A00-D72A-0A191238E3BB}"/>
            </a:ext>
          </a:extLst>
        </p:cNvPr>
        <p:cNvGrpSpPr/>
        <p:nvPr/>
      </p:nvGrpSpPr>
      <p:grpSpPr>
        <a:xfrm>
          <a:off x="0" y="0"/>
          <a:ext cx="0" cy="0"/>
          <a:chOff x="0" y="0"/>
          <a:chExt cx="0" cy="0"/>
        </a:xfrm>
      </p:grpSpPr>
      <p:sp>
        <p:nvSpPr>
          <p:cNvPr id="25" name="Title 1">
            <a:extLst>
              <a:ext uri="{FF2B5EF4-FFF2-40B4-BE49-F238E27FC236}">
                <a16:creationId xmlns:a16="http://schemas.microsoft.com/office/drawing/2014/main" id="{6ACCA816-6E4C-3095-39E8-7E27AE03803D}"/>
              </a:ext>
            </a:extLst>
          </p:cNvPr>
          <p:cNvSpPr>
            <a:spLocks noGrp="1"/>
          </p:cNvSpPr>
          <p:nvPr>
            <p:ph type="title"/>
          </p:nvPr>
        </p:nvSpPr>
        <p:spPr>
          <a:xfrm>
            <a:off x="1257300" y="5660370"/>
            <a:ext cx="6629400" cy="727587"/>
          </a:xfrm>
        </p:spPr>
        <p:style>
          <a:lnRef idx="2">
            <a:schemeClr val="accent4">
              <a:shade val="15000"/>
            </a:schemeClr>
          </a:lnRef>
          <a:fillRef idx="1">
            <a:schemeClr val="accent4"/>
          </a:fillRef>
          <a:effectRef idx="0">
            <a:schemeClr val="accent4"/>
          </a:effectRef>
          <a:fontRef idx="minor">
            <a:schemeClr val="lt1"/>
          </a:fontRef>
        </p:style>
        <p:txBody>
          <a:bodyPr>
            <a:normAutofit/>
          </a:bodyPr>
          <a:lstStyle/>
          <a:p>
            <a:r>
              <a:rPr lang="en-US" sz="1200" dirty="0">
                <a:latin typeface="Barclaycard Co" panose="020B0503060202020204" pitchFamily="34" charset="0"/>
              </a:rPr>
              <a:t>Results on Logistic Regression on different class weights .</a:t>
            </a:r>
            <a:br>
              <a:rPr lang="en-US" sz="1200" dirty="0">
                <a:latin typeface="Barclaycard Co" panose="020B0503060202020204" pitchFamily="34" charset="0"/>
              </a:rPr>
            </a:br>
            <a:r>
              <a:rPr lang="en-US" sz="1200" dirty="0">
                <a:latin typeface="Barclaycard Co" panose="020B0503060202020204" pitchFamily="34" charset="0"/>
              </a:rPr>
              <a:t>(0:1 , 1:3) Proves to be the best in balance between true positives  and false positives </a:t>
            </a:r>
          </a:p>
        </p:txBody>
      </p:sp>
      <p:pic>
        <p:nvPicPr>
          <p:cNvPr id="3" name="Picture 2">
            <a:extLst>
              <a:ext uri="{FF2B5EF4-FFF2-40B4-BE49-F238E27FC236}">
                <a16:creationId xmlns:a16="http://schemas.microsoft.com/office/drawing/2014/main" id="{DBAC542C-D729-4129-7D84-A6AED8D51794}"/>
              </a:ext>
            </a:extLst>
          </p:cNvPr>
          <p:cNvPicPr>
            <a:picLocks noChangeAspect="1"/>
          </p:cNvPicPr>
          <p:nvPr/>
        </p:nvPicPr>
        <p:blipFill>
          <a:blip r:embed="rId2"/>
          <a:stretch>
            <a:fillRect/>
          </a:stretch>
        </p:blipFill>
        <p:spPr>
          <a:xfrm>
            <a:off x="141510" y="130185"/>
            <a:ext cx="4151338" cy="2396705"/>
          </a:xfrm>
          <a:prstGeom prst="rect">
            <a:avLst/>
          </a:prstGeom>
        </p:spPr>
      </p:pic>
      <p:pic>
        <p:nvPicPr>
          <p:cNvPr id="6" name="Picture 5">
            <a:extLst>
              <a:ext uri="{FF2B5EF4-FFF2-40B4-BE49-F238E27FC236}">
                <a16:creationId xmlns:a16="http://schemas.microsoft.com/office/drawing/2014/main" id="{8BF96BCF-0F3F-A978-85C4-43C1857A5C7C}"/>
              </a:ext>
            </a:extLst>
          </p:cNvPr>
          <p:cNvPicPr>
            <a:picLocks noChangeAspect="1"/>
          </p:cNvPicPr>
          <p:nvPr/>
        </p:nvPicPr>
        <p:blipFill>
          <a:blip r:embed="rId3"/>
          <a:stretch>
            <a:fillRect/>
          </a:stretch>
        </p:blipFill>
        <p:spPr>
          <a:xfrm>
            <a:off x="4810867" y="130183"/>
            <a:ext cx="4338673" cy="2504861"/>
          </a:xfrm>
          <a:prstGeom prst="rect">
            <a:avLst/>
          </a:prstGeom>
        </p:spPr>
      </p:pic>
      <p:pic>
        <p:nvPicPr>
          <p:cNvPr id="10" name="Picture 9">
            <a:extLst>
              <a:ext uri="{FF2B5EF4-FFF2-40B4-BE49-F238E27FC236}">
                <a16:creationId xmlns:a16="http://schemas.microsoft.com/office/drawing/2014/main" id="{688BA5B1-DD6A-5D7E-D86C-14EBDF110C7D}"/>
              </a:ext>
            </a:extLst>
          </p:cNvPr>
          <p:cNvPicPr>
            <a:picLocks noChangeAspect="1"/>
          </p:cNvPicPr>
          <p:nvPr/>
        </p:nvPicPr>
        <p:blipFill>
          <a:blip r:embed="rId4"/>
          <a:stretch>
            <a:fillRect/>
          </a:stretch>
        </p:blipFill>
        <p:spPr>
          <a:xfrm>
            <a:off x="1" y="2892289"/>
            <a:ext cx="4398270" cy="2539268"/>
          </a:xfrm>
          <a:prstGeom prst="rect">
            <a:avLst/>
          </a:prstGeom>
        </p:spPr>
      </p:pic>
      <p:pic>
        <p:nvPicPr>
          <p:cNvPr id="14" name="Picture 13">
            <a:extLst>
              <a:ext uri="{FF2B5EF4-FFF2-40B4-BE49-F238E27FC236}">
                <a16:creationId xmlns:a16="http://schemas.microsoft.com/office/drawing/2014/main" id="{1CAF68F2-69E1-F136-6063-E5CD0A0FC2F3}"/>
              </a:ext>
            </a:extLst>
          </p:cNvPr>
          <p:cNvPicPr>
            <a:picLocks noChangeAspect="1"/>
          </p:cNvPicPr>
          <p:nvPr/>
        </p:nvPicPr>
        <p:blipFill>
          <a:blip r:embed="rId5"/>
          <a:stretch>
            <a:fillRect/>
          </a:stretch>
        </p:blipFill>
        <p:spPr>
          <a:xfrm>
            <a:off x="4810867" y="2869418"/>
            <a:ext cx="4338673" cy="2504861"/>
          </a:xfrm>
          <a:prstGeom prst="rect">
            <a:avLst/>
          </a:prstGeom>
        </p:spPr>
      </p:pic>
    </p:spTree>
    <p:extLst>
      <p:ext uri="{BB962C8B-B14F-4D97-AF65-F5344CB8AC3E}">
        <p14:creationId xmlns:p14="http://schemas.microsoft.com/office/powerpoint/2010/main" val="29275533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B451D-EDEA-505F-25EF-247582642FE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F295024-9DB8-15B5-3BFF-DBE58481AD67}"/>
              </a:ext>
            </a:extLst>
          </p:cNvPr>
          <p:cNvPicPr>
            <a:picLocks noChangeAspect="1"/>
          </p:cNvPicPr>
          <p:nvPr/>
        </p:nvPicPr>
        <p:blipFill>
          <a:blip r:embed="rId2"/>
          <a:stretch>
            <a:fillRect/>
          </a:stretch>
        </p:blipFill>
        <p:spPr>
          <a:xfrm>
            <a:off x="3128101" y="2788079"/>
            <a:ext cx="2650810" cy="2207310"/>
          </a:xfrm>
          <a:prstGeom prst="rect">
            <a:avLst/>
          </a:prstGeom>
        </p:spPr>
      </p:pic>
      <p:pic>
        <p:nvPicPr>
          <p:cNvPr id="7" name="Picture 6">
            <a:extLst>
              <a:ext uri="{FF2B5EF4-FFF2-40B4-BE49-F238E27FC236}">
                <a16:creationId xmlns:a16="http://schemas.microsoft.com/office/drawing/2014/main" id="{F3D2482B-FD24-AC31-9843-2156BAA85BBE}"/>
              </a:ext>
            </a:extLst>
          </p:cNvPr>
          <p:cNvPicPr>
            <a:picLocks noChangeAspect="1"/>
          </p:cNvPicPr>
          <p:nvPr/>
        </p:nvPicPr>
        <p:blipFill>
          <a:blip r:embed="rId3"/>
          <a:stretch>
            <a:fillRect/>
          </a:stretch>
        </p:blipFill>
        <p:spPr>
          <a:xfrm>
            <a:off x="3128101" y="144027"/>
            <a:ext cx="2650810" cy="2207310"/>
          </a:xfrm>
          <a:prstGeom prst="rect">
            <a:avLst/>
          </a:prstGeom>
        </p:spPr>
      </p:pic>
      <p:pic>
        <p:nvPicPr>
          <p:cNvPr id="9" name="Picture 8">
            <a:extLst>
              <a:ext uri="{FF2B5EF4-FFF2-40B4-BE49-F238E27FC236}">
                <a16:creationId xmlns:a16="http://schemas.microsoft.com/office/drawing/2014/main" id="{50D4154D-BDBC-8220-1094-7DC92B505E7E}"/>
              </a:ext>
            </a:extLst>
          </p:cNvPr>
          <p:cNvPicPr>
            <a:picLocks noChangeAspect="1"/>
          </p:cNvPicPr>
          <p:nvPr/>
        </p:nvPicPr>
        <p:blipFill>
          <a:blip r:embed="rId4"/>
          <a:stretch>
            <a:fillRect/>
          </a:stretch>
        </p:blipFill>
        <p:spPr>
          <a:xfrm>
            <a:off x="6036936" y="2330613"/>
            <a:ext cx="2681566" cy="2232919"/>
          </a:xfrm>
          <a:prstGeom prst="rect">
            <a:avLst/>
          </a:prstGeom>
        </p:spPr>
      </p:pic>
      <p:pic>
        <p:nvPicPr>
          <p:cNvPr id="11" name="Picture 10">
            <a:extLst>
              <a:ext uri="{FF2B5EF4-FFF2-40B4-BE49-F238E27FC236}">
                <a16:creationId xmlns:a16="http://schemas.microsoft.com/office/drawing/2014/main" id="{FCDBC9E7-393F-EA76-1DC0-41D7FC50786F}"/>
              </a:ext>
            </a:extLst>
          </p:cNvPr>
          <p:cNvPicPr>
            <a:picLocks noChangeAspect="1"/>
          </p:cNvPicPr>
          <p:nvPr/>
        </p:nvPicPr>
        <p:blipFill>
          <a:blip r:embed="rId5"/>
          <a:stretch>
            <a:fillRect/>
          </a:stretch>
        </p:blipFill>
        <p:spPr>
          <a:xfrm>
            <a:off x="6088442" y="4592266"/>
            <a:ext cx="2650810" cy="2207309"/>
          </a:xfrm>
          <a:prstGeom prst="rect">
            <a:avLst/>
          </a:prstGeom>
        </p:spPr>
      </p:pic>
      <p:pic>
        <p:nvPicPr>
          <p:cNvPr id="13" name="Picture 12">
            <a:extLst>
              <a:ext uri="{FF2B5EF4-FFF2-40B4-BE49-F238E27FC236}">
                <a16:creationId xmlns:a16="http://schemas.microsoft.com/office/drawing/2014/main" id="{706B7FBA-565E-DD8B-F4B1-F55166B879A7}"/>
              </a:ext>
            </a:extLst>
          </p:cNvPr>
          <p:cNvPicPr>
            <a:picLocks noChangeAspect="1"/>
          </p:cNvPicPr>
          <p:nvPr/>
        </p:nvPicPr>
        <p:blipFill>
          <a:blip r:embed="rId6"/>
          <a:stretch>
            <a:fillRect/>
          </a:stretch>
        </p:blipFill>
        <p:spPr>
          <a:xfrm>
            <a:off x="159467" y="2314134"/>
            <a:ext cx="2533626" cy="2109732"/>
          </a:xfrm>
          <a:prstGeom prst="rect">
            <a:avLst/>
          </a:prstGeom>
        </p:spPr>
      </p:pic>
      <p:pic>
        <p:nvPicPr>
          <p:cNvPr id="15" name="Picture 14">
            <a:extLst>
              <a:ext uri="{FF2B5EF4-FFF2-40B4-BE49-F238E27FC236}">
                <a16:creationId xmlns:a16="http://schemas.microsoft.com/office/drawing/2014/main" id="{9DCD250B-A8BF-7824-0541-306CC4E3CB11}"/>
              </a:ext>
            </a:extLst>
          </p:cNvPr>
          <p:cNvPicPr>
            <a:picLocks noChangeAspect="1"/>
          </p:cNvPicPr>
          <p:nvPr/>
        </p:nvPicPr>
        <p:blipFill>
          <a:blip r:embed="rId7"/>
          <a:stretch>
            <a:fillRect/>
          </a:stretch>
        </p:blipFill>
        <p:spPr>
          <a:xfrm>
            <a:off x="6036936" y="153859"/>
            <a:ext cx="2650810" cy="2207310"/>
          </a:xfrm>
          <a:prstGeom prst="rect">
            <a:avLst/>
          </a:prstGeom>
        </p:spPr>
      </p:pic>
      <p:pic>
        <p:nvPicPr>
          <p:cNvPr id="17" name="Picture 16">
            <a:extLst>
              <a:ext uri="{FF2B5EF4-FFF2-40B4-BE49-F238E27FC236}">
                <a16:creationId xmlns:a16="http://schemas.microsoft.com/office/drawing/2014/main" id="{635449A4-E2F4-E5F3-2775-5C5FE3641A7F}"/>
              </a:ext>
            </a:extLst>
          </p:cNvPr>
          <p:cNvPicPr>
            <a:picLocks noChangeAspect="1"/>
          </p:cNvPicPr>
          <p:nvPr/>
        </p:nvPicPr>
        <p:blipFill>
          <a:blip r:embed="rId8"/>
          <a:stretch>
            <a:fillRect/>
          </a:stretch>
        </p:blipFill>
        <p:spPr>
          <a:xfrm>
            <a:off x="159467" y="4602094"/>
            <a:ext cx="2533626" cy="2109731"/>
          </a:xfrm>
          <a:prstGeom prst="rect">
            <a:avLst/>
          </a:prstGeom>
        </p:spPr>
      </p:pic>
      <p:pic>
        <p:nvPicPr>
          <p:cNvPr id="22" name="Picture 21">
            <a:extLst>
              <a:ext uri="{FF2B5EF4-FFF2-40B4-BE49-F238E27FC236}">
                <a16:creationId xmlns:a16="http://schemas.microsoft.com/office/drawing/2014/main" id="{A7EF18B9-EFE3-5DFF-56F6-80092A8A4320}"/>
              </a:ext>
            </a:extLst>
          </p:cNvPr>
          <p:cNvPicPr>
            <a:picLocks noChangeAspect="1"/>
          </p:cNvPicPr>
          <p:nvPr/>
        </p:nvPicPr>
        <p:blipFill>
          <a:blip r:embed="rId9"/>
          <a:stretch>
            <a:fillRect/>
          </a:stretch>
        </p:blipFill>
        <p:spPr>
          <a:xfrm>
            <a:off x="159466" y="146175"/>
            <a:ext cx="2533627" cy="2109731"/>
          </a:xfrm>
          <a:prstGeom prst="rect">
            <a:avLst/>
          </a:prstGeom>
        </p:spPr>
      </p:pic>
      <p:sp>
        <p:nvSpPr>
          <p:cNvPr id="25" name="Title 1">
            <a:extLst>
              <a:ext uri="{FF2B5EF4-FFF2-40B4-BE49-F238E27FC236}">
                <a16:creationId xmlns:a16="http://schemas.microsoft.com/office/drawing/2014/main" id="{77CAEF2D-5813-440F-7ECB-01403465E008}"/>
              </a:ext>
            </a:extLst>
          </p:cNvPr>
          <p:cNvSpPr>
            <a:spLocks noGrp="1"/>
          </p:cNvSpPr>
          <p:nvPr>
            <p:ph type="title"/>
          </p:nvPr>
        </p:nvSpPr>
        <p:spPr>
          <a:xfrm>
            <a:off x="3128100" y="5656959"/>
            <a:ext cx="2650811" cy="727587"/>
          </a:xfrm>
        </p:spPr>
        <p:style>
          <a:lnRef idx="2">
            <a:schemeClr val="accent4">
              <a:shade val="15000"/>
            </a:schemeClr>
          </a:lnRef>
          <a:fillRef idx="1">
            <a:schemeClr val="accent4"/>
          </a:fillRef>
          <a:effectRef idx="0">
            <a:schemeClr val="accent4"/>
          </a:effectRef>
          <a:fontRef idx="minor">
            <a:schemeClr val="lt1"/>
          </a:fontRef>
        </p:style>
        <p:txBody>
          <a:bodyPr>
            <a:normAutofit/>
          </a:bodyPr>
          <a:lstStyle/>
          <a:p>
            <a:r>
              <a:rPr lang="en-US" sz="1200" dirty="0">
                <a:latin typeface="Barclaycard Co" panose="020B0503060202020204" pitchFamily="34" charset="0"/>
              </a:rPr>
              <a:t>Other classifiers </a:t>
            </a:r>
            <a:br>
              <a:rPr lang="en-US" sz="1200" dirty="0">
                <a:latin typeface="Barclaycard Co" panose="020B0503060202020204" pitchFamily="34" charset="0"/>
              </a:rPr>
            </a:br>
            <a:r>
              <a:rPr lang="en-US" sz="1200" dirty="0">
                <a:latin typeface="Barclaycard Co" panose="020B0503060202020204" pitchFamily="34" charset="0"/>
              </a:rPr>
              <a:t>Fine-tuned with class weights</a:t>
            </a:r>
            <a:br>
              <a:rPr lang="en-US" sz="1200" dirty="0">
                <a:latin typeface="Barclaycard Co" panose="020B0503060202020204" pitchFamily="34" charset="0"/>
              </a:rPr>
            </a:br>
            <a:r>
              <a:rPr lang="en-US" sz="1200" dirty="0">
                <a:latin typeface="Barclaycard Co" panose="020B0503060202020204" pitchFamily="34" charset="0"/>
              </a:rPr>
              <a:t>(0:1 , 1:3) </a:t>
            </a:r>
          </a:p>
        </p:txBody>
      </p:sp>
    </p:spTree>
    <p:extLst>
      <p:ext uri="{BB962C8B-B14F-4D97-AF65-F5344CB8AC3E}">
        <p14:creationId xmlns:p14="http://schemas.microsoft.com/office/powerpoint/2010/main" val="2360285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3D9DF-8D98-AB53-0A85-31C22AB28C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894C40-D073-A557-BBA7-ACE55327C78F}"/>
              </a:ext>
            </a:extLst>
          </p:cNvPr>
          <p:cNvSpPr>
            <a:spLocks noGrp="1"/>
          </p:cNvSpPr>
          <p:nvPr>
            <p:ph type="title"/>
          </p:nvPr>
        </p:nvSpPr>
        <p:spPr>
          <a:xfrm>
            <a:off x="457199" y="274638"/>
            <a:ext cx="8229601" cy="580768"/>
          </a:xfrm>
          <a:solidFill>
            <a:srgbClr val="57093B"/>
          </a:solidFill>
        </p:spPr>
        <p:style>
          <a:lnRef idx="0">
            <a:schemeClr val="accent6"/>
          </a:lnRef>
          <a:fillRef idx="3">
            <a:schemeClr val="accent6"/>
          </a:fillRef>
          <a:effectRef idx="3">
            <a:schemeClr val="accent6"/>
          </a:effectRef>
          <a:fontRef idx="minor">
            <a:schemeClr val="lt1"/>
          </a:fontRef>
        </p:style>
        <p:txBody>
          <a:bodyPr>
            <a:normAutofit/>
          </a:bodyPr>
          <a:lstStyle/>
          <a:p>
            <a:r>
              <a:rPr lang="en-US" sz="2400" dirty="0"/>
              <a:t>Modelling Summary </a:t>
            </a:r>
            <a:endParaRPr lang="en-US" sz="2400" dirty="0">
              <a:latin typeface="Barclaycard Co" panose="020B0503060202020204" pitchFamily="34" charset="0"/>
            </a:endParaRPr>
          </a:p>
        </p:txBody>
      </p:sp>
      <p:sp>
        <p:nvSpPr>
          <p:cNvPr id="3" name="Content Placeholder 2">
            <a:extLst>
              <a:ext uri="{FF2B5EF4-FFF2-40B4-BE49-F238E27FC236}">
                <a16:creationId xmlns:a16="http://schemas.microsoft.com/office/drawing/2014/main" id="{B08EDA5C-D68A-C60D-CD6B-1937E4F8C84E}"/>
              </a:ext>
            </a:extLst>
          </p:cNvPr>
          <p:cNvSpPr>
            <a:spLocks noGrp="1"/>
          </p:cNvSpPr>
          <p:nvPr>
            <p:ph idx="1"/>
          </p:nvPr>
        </p:nvSpPr>
        <p:spPr>
          <a:xfrm>
            <a:off x="457200" y="983226"/>
            <a:ext cx="8229600" cy="5496232"/>
          </a:xfrm>
        </p:spPr>
        <p:txBody>
          <a:bodyPr>
            <a:noAutofit/>
          </a:bodyPr>
          <a:lstStyle/>
          <a:p>
            <a:pPr marL="0" indent="0">
              <a:lnSpc>
                <a:spcPct val="150000"/>
              </a:lnSpc>
              <a:buNone/>
            </a:pPr>
            <a:r>
              <a:rPr lang="en-US" sz="1400" b="1" dirty="0"/>
              <a:t>Logistic Regression </a:t>
            </a:r>
          </a:p>
          <a:p>
            <a:pPr>
              <a:lnSpc>
                <a:spcPct val="150000"/>
              </a:lnSpc>
            </a:pPr>
            <a:r>
              <a:rPr lang="en-US" sz="1400" b="1" dirty="0"/>
              <a:t>Performance</a:t>
            </a:r>
            <a:r>
              <a:rPr lang="en-US" sz="1400" dirty="0"/>
              <a:t>: By giving more weight to churners, this model becomes better at catching customers who are likely to leave. However, the downside is that it also predicts more loyal customers as churners, which means retention efforts could be wasted as we risk mistaking loyal customers as churners</a:t>
            </a:r>
            <a:endParaRPr lang="en-US" sz="1400" b="1" dirty="0"/>
          </a:p>
          <a:p>
            <a:pPr marL="0" indent="0">
              <a:lnSpc>
                <a:spcPct val="150000"/>
              </a:lnSpc>
              <a:buNone/>
            </a:pPr>
            <a:r>
              <a:rPr lang="en-US" sz="1400" b="1" dirty="0"/>
              <a:t>XGBoost:</a:t>
            </a:r>
          </a:p>
          <a:p>
            <a:pPr>
              <a:lnSpc>
                <a:spcPct val="150000"/>
              </a:lnSpc>
              <a:buFont typeface="Arial" panose="020B0604020202020204" pitchFamily="34" charset="0"/>
              <a:buChar char="•"/>
            </a:pPr>
            <a:r>
              <a:rPr lang="en-US" sz="1400" b="1" dirty="0"/>
              <a:t>Performance</a:t>
            </a:r>
            <a:r>
              <a:rPr lang="en-US" sz="1400" dirty="0"/>
              <a:t>: XGBoost has been a strong performer throughout. It’s highly accurate and misclassifies fewer customers, especially churners. The reason it works so well is that it learns from the imbalanced data, continuously improving its predictions.</a:t>
            </a:r>
          </a:p>
          <a:p>
            <a:pPr marL="0" indent="0">
              <a:lnSpc>
                <a:spcPct val="150000"/>
              </a:lnSpc>
              <a:buNone/>
            </a:pPr>
            <a:r>
              <a:rPr lang="en-US" sz="1400" b="1" dirty="0"/>
              <a:t>Random Forest:</a:t>
            </a:r>
          </a:p>
          <a:p>
            <a:pPr>
              <a:lnSpc>
                <a:spcPct val="150000"/>
              </a:lnSpc>
              <a:buFont typeface="Arial" panose="020B0604020202020204" pitchFamily="34" charset="0"/>
              <a:buChar char="•"/>
            </a:pPr>
            <a:r>
              <a:rPr lang="en-US" sz="1400" b="1" dirty="0"/>
              <a:t>Performance</a:t>
            </a:r>
            <a:r>
              <a:rPr lang="en-US" sz="1400" dirty="0"/>
              <a:t>: Random Forest is another solid performer, but it tends to miss more churners. While it’s robust, it could benefit from fine-tuning to improve its ability to identify customers at risk of churning.</a:t>
            </a:r>
          </a:p>
          <a:p>
            <a:pPr marL="0" indent="0">
              <a:lnSpc>
                <a:spcPct val="150000"/>
              </a:lnSpc>
              <a:buNone/>
            </a:pPr>
            <a:r>
              <a:rPr lang="en-US" sz="1400" b="1" dirty="0"/>
              <a:t>K-Nearest Neighbors (KNN):</a:t>
            </a:r>
          </a:p>
          <a:p>
            <a:pPr>
              <a:lnSpc>
                <a:spcPct val="150000"/>
              </a:lnSpc>
              <a:buFont typeface="Arial" panose="020B0604020202020204" pitchFamily="34" charset="0"/>
              <a:buChar char="•"/>
            </a:pPr>
            <a:r>
              <a:rPr lang="en-US" sz="1400" b="1" dirty="0"/>
              <a:t>Performance</a:t>
            </a:r>
            <a:r>
              <a:rPr lang="en-US" sz="1400" dirty="0"/>
              <a:t>: While KNN works moderately well, it misclassifies a significant number of loyal customers. This shows that KNN struggles with this particular dataset.</a:t>
            </a:r>
          </a:p>
          <a:p>
            <a:pPr marL="0" indent="0">
              <a:lnSpc>
                <a:spcPct val="150000"/>
              </a:lnSpc>
              <a:buNone/>
            </a:pPr>
            <a:endParaRPr lang="en-US" sz="1400" dirty="0"/>
          </a:p>
        </p:txBody>
      </p:sp>
    </p:spTree>
    <p:extLst>
      <p:ext uri="{BB962C8B-B14F-4D97-AF65-F5344CB8AC3E}">
        <p14:creationId xmlns:p14="http://schemas.microsoft.com/office/powerpoint/2010/main" val="16125322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3BBE0-A596-D7A1-5AEB-BD89DCBBDF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659C2F-8420-B408-BC41-2E22A70757DF}"/>
              </a:ext>
            </a:extLst>
          </p:cNvPr>
          <p:cNvSpPr>
            <a:spLocks noGrp="1"/>
          </p:cNvSpPr>
          <p:nvPr>
            <p:ph type="title"/>
          </p:nvPr>
        </p:nvSpPr>
        <p:spPr>
          <a:xfrm>
            <a:off x="457199" y="274638"/>
            <a:ext cx="8229601" cy="580768"/>
          </a:xfrm>
          <a:solidFill>
            <a:srgbClr val="57093B"/>
          </a:solidFill>
        </p:spPr>
        <p:style>
          <a:lnRef idx="0">
            <a:schemeClr val="accent6"/>
          </a:lnRef>
          <a:fillRef idx="3">
            <a:schemeClr val="accent6"/>
          </a:fillRef>
          <a:effectRef idx="3">
            <a:schemeClr val="accent6"/>
          </a:effectRef>
          <a:fontRef idx="minor">
            <a:schemeClr val="lt1"/>
          </a:fontRef>
        </p:style>
        <p:txBody>
          <a:bodyPr>
            <a:normAutofit/>
          </a:bodyPr>
          <a:lstStyle/>
          <a:p>
            <a:r>
              <a:rPr lang="en-US" sz="2400" dirty="0"/>
              <a:t>Modelling Summary cont’d </a:t>
            </a:r>
            <a:endParaRPr lang="en-US" sz="2400" dirty="0">
              <a:latin typeface="Barclaycard Co" panose="020B0503060202020204" pitchFamily="34" charset="0"/>
            </a:endParaRPr>
          </a:p>
        </p:txBody>
      </p:sp>
      <p:sp>
        <p:nvSpPr>
          <p:cNvPr id="3" name="Content Placeholder 2">
            <a:extLst>
              <a:ext uri="{FF2B5EF4-FFF2-40B4-BE49-F238E27FC236}">
                <a16:creationId xmlns:a16="http://schemas.microsoft.com/office/drawing/2014/main" id="{9FE9AB69-8B20-0F8B-D65E-E65B838C047E}"/>
              </a:ext>
            </a:extLst>
          </p:cNvPr>
          <p:cNvSpPr>
            <a:spLocks noGrp="1"/>
          </p:cNvSpPr>
          <p:nvPr>
            <p:ph idx="1"/>
          </p:nvPr>
        </p:nvSpPr>
        <p:spPr>
          <a:xfrm>
            <a:off x="457200" y="983226"/>
            <a:ext cx="8229600" cy="5874774"/>
          </a:xfrm>
        </p:spPr>
        <p:txBody>
          <a:bodyPr>
            <a:noAutofit/>
          </a:bodyPr>
          <a:lstStyle/>
          <a:p>
            <a:pPr marL="0" indent="0">
              <a:lnSpc>
                <a:spcPct val="150000"/>
              </a:lnSpc>
              <a:buNone/>
            </a:pPr>
            <a:r>
              <a:rPr lang="en-US" sz="1400" b="1" dirty="0"/>
              <a:t>Stochastic Gradient Descent (SGD):</a:t>
            </a:r>
          </a:p>
          <a:p>
            <a:pPr>
              <a:lnSpc>
                <a:spcPct val="150000"/>
              </a:lnSpc>
              <a:buFont typeface="Arial" panose="020B0604020202020204" pitchFamily="34" charset="0"/>
              <a:buChar char="•"/>
            </a:pPr>
            <a:r>
              <a:rPr lang="en-US" sz="1400" b="1" dirty="0"/>
              <a:t>Performance</a:t>
            </a:r>
            <a:r>
              <a:rPr lang="en-US" sz="1400" dirty="0"/>
              <a:t>: The model does well at identifying churners, but it comes with a cost—more false positives. In other words, it flags many loyal customers as churners, which means retention efforts could be directed at the wrong people.</a:t>
            </a:r>
          </a:p>
          <a:p>
            <a:pPr marL="0" indent="0">
              <a:lnSpc>
                <a:spcPct val="150000"/>
              </a:lnSpc>
              <a:buNone/>
            </a:pPr>
            <a:endParaRPr lang="en-US" sz="1400" dirty="0"/>
          </a:p>
          <a:p>
            <a:pPr marL="0" indent="0">
              <a:lnSpc>
                <a:spcPct val="150000"/>
              </a:lnSpc>
              <a:buNone/>
            </a:pPr>
            <a:r>
              <a:rPr lang="en-US" sz="1400" b="1" dirty="0"/>
              <a:t>Support Vector Machine (SVM):</a:t>
            </a:r>
          </a:p>
          <a:p>
            <a:pPr>
              <a:lnSpc>
                <a:spcPct val="150000"/>
              </a:lnSpc>
              <a:buFont typeface="Arial" panose="020B0604020202020204" pitchFamily="34" charset="0"/>
              <a:buChar char="•"/>
            </a:pPr>
            <a:r>
              <a:rPr lang="en-US" sz="1400" b="1" dirty="0"/>
              <a:t>Performance</a:t>
            </a:r>
            <a:r>
              <a:rPr lang="en-US" sz="1400" dirty="0"/>
              <a:t>: SVM is very good at predicting when customers won’t churn, but it’s not as effective at catching everyone who will leave. It's excellent for precision, but we need more recall.</a:t>
            </a:r>
          </a:p>
          <a:p>
            <a:pPr>
              <a:lnSpc>
                <a:spcPct val="150000"/>
              </a:lnSpc>
              <a:buFont typeface="Arial" panose="020B0604020202020204" pitchFamily="34" charset="0"/>
              <a:buChar char="•"/>
            </a:pPr>
            <a:endParaRPr lang="en-US" sz="1400" dirty="0"/>
          </a:p>
          <a:p>
            <a:pPr marL="0" indent="0">
              <a:lnSpc>
                <a:spcPct val="150000"/>
              </a:lnSpc>
              <a:buNone/>
            </a:pPr>
            <a:r>
              <a:rPr lang="en-US" sz="1400" b="1" dirty="0"/>
              <a:t>Naive Bayes:</a:t>
            </a:r>
          </a:p>
          <a:p>
            <a:pPr>
              <a:lnSpc>
                <a:spcPct val="150000"/>
              </a:lnSpc>
              <a:buFont typeface="Arial" panose="020B0604020202020204" pitchFamily="34" charset="0"/>
              <a:buChar char="•"/>
            </a:pPr>
            <a:r>
              <a:rPr lang="en-US" sz="1400" b="1" dirty="0"/>
              <a:t>Performance</a:t>
            </a:r>
            <a:r>
              <a:rPr lang="en-US" sz="1400" dirty="0"/>
              <a:t>: Naive Bayes tends to be aggressive at identifying churners, but it also makes a lot of mistakes with loyal customers. </a:t>
            </a:r>
          </a:p>
          <a:p>
            <a:pPr>
              <a:lnSpc>
                <a:spcPct val="150000"/>
              </a:lnSpc>
              <a:buFont typeface="Arial" panose="020B0604020202020204" pitchFamily="34" charset="0"/>
              <a:buChar char="•"/>
            </a:pPr>
            <a:endParaRPr lang="en-US" sz="1400" dirty="0"/>
          </a:p>
          <a:p>
            <a:pPr marL="0" indent="0">
              <a:lnSpc>
                <a:spcPct val="150000"/>
              </a:lnSpc>
              <a:buNone/>
            </a:pPr>
            <a:r>
              <a:rPr lang="en-US" sz="1400" b="1" dirty="0"/>
              <a:t>Decision Tree:</a:t>
            </a:r>
          </a:p>
          <a:p>
            <a:pPr>
              <a:lnSpc>
                <a:spcPct val="150000"/>
              </a:lnSpc>
              <a:buFont typeface="Arial" panose="020B0604020202020204" pitchFamily="34" charset="0"/>
              <a:buChar char="•"/>
            </a:pPr>
            <a:r>
              <a:rPr lang="en-US" sz="1400" b="1" dirty="0"/>
              <a:t>Performance</a:t>
            </a:r>
            <a:r>
              <a:rPr lang="en-US" sz="1400" dirty="0"/>
              <a:t>: The Decision Tree provides a balanced recall but can sometimes overfit. This means it might work well in this particular dataset but may not generalize as well to new data.</a:t>
            </a:r>
          </a:p>
          <a:p>
            <a:pPr>
              <a:lnSpc>
                <a:spcPct val="150000"/>
              </a:lnSpc>
              <a:buFont typeface="Arial" panose="020B0604020202020204" pitchFamily="34" charset="0"/>
              <a:buChar char="•"/>
            </a:pPr>
            <a:endParaRPr lang="en-US" sz="1400" dirty="0"/>
          </a:p>
        </p:txBody>
      </p:sp>
    </p:spTree>
    <p:extLst>
      <p:ext uri="{BB962C8B-B14F-4D97-AF65-F5344CB8AC3E}">
        <p14:creationId xmlns:p14="http://schemas.microsoft.com/office/powerpoint/2010/main" val="15143399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EEFA528-AA79-7FBB-833D-F9B0CE4119D3}"/>
              </a:ext>
            </a:extLst>
          </p:cNvPr>
          <p:cNvSpPr txBox="1">
            <a:spLocks/>
          </p:cNvSpPr>
          <p:nvPr/>
        </p:nvSpPr>
        <p:spPr>
          <a:xfrm>
            <a:off x="457199" y="5463970"/>
            <a:ext cx="8229601" cy="1103671"/>
          </a:xfrm>
          <a:prstGeom prst="rect">
            <a:avLst/>
          </a:prstGeom>
          <a:ln>
            <a:solidFill>
              <a:srgbClr val="57093B"/>
            </a:solidFill>
          </a:ln>
        </p:spPr>
        <p:style>
          <a:lnRef idx="2">
            <a:schemeClr val="accent6"/>
          </a:lnRef>
          <a:fillRef idx="1">
            <a:schemeClr val="lt1"/>
          </a:fillRef>
          <a:effectRef idx="0">
            <a:schemeClr val="accent6"/>
          </a:effectRef>
          <a:fontRef idx="minor">
            <a:schemeClr val="dk1"/>
          </a:fontRef>
        </p:style>
        <p:txBody>
          <a:bodyPr vert="horz" lIns="91440" tIns="45720" rIns="91440" bIns="4572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1400" b="1" dirty="0">
                <a:solidFill>
                  <a:schemeClr val="tx1"/>
                </a:solidFill>
              </a:rPr>
              <a:t>Best Models: </a:t>
            </a:r>
            <a:r>
              <a:rPr lang="en-US" sz="1400" dirty="0">
                <a:solidFill>
                  <a:schemeClr val="tx1"/>
                </a:solidFill>
              </a:rPr>
              <a:t>In this case ,SGD Classifier Logistic Regression with adjusted class weights are performing the best. They strike a good balance between catching churners and avoiding false alarms( Recall and Precision) with loyal customers </a:t>
            </a:r>
            <a:endParaRPr lang="en-US" sz="1400" dirty="0">
              <a:solidFill>
                <a:schemeClr val="tx1"/>
              </a:solidFill>
              <a:latin typeface="Barclaycard Co" panose="020B0503060202020204" pitchFamily="34" charset="0"/>
            </a:endParaRPr>
          </a:p>
        </p:txBody>
      </p:sp>
      <p:graphicFrame>
        <p:nvGraphicFramePr>
          <p:cNvPr id="8" name="Table 7">
            <a:extLst>
              <a:ext uri="{FF2B5EF4-FFF2-40B4-BE49-F238E27FC236}">
                <a16:creationId xmlns:a16="http://schemas.microsoft.com/office/drawing/2014/main" id="{1382DD42-8A72-CFA3-3C2C-65E8E323FDE9}"/>
              </a:ext>
            </a:extLst>
          </p:cNvPr>
          <p:cNvGraphicFramePr>
            <a:graphicFrameLocks noGrp="1"/>
          </p:cNvGraphicFramePr>
          <p:nvPr>
            <p:extLst>
              <p:ext uri="{D42A27DB-BD31-4B8C-83A1-F6EECF244321}">
                <p14:modId xmlns:p14="http://schemas.microsoft.com/office/powerpoint/2010/main" val="487685586"/>
              </p:ext>
            </p:extLst>
          </p:nvPr>
        </p:nvGraphicFramePr>
        <p:xfrm>
          <a:off x="447672" y="466725"/>
          <a:ext cx="8229601" cy="4828938"/>
        </p:xfrm>
        <a:graphic>
          <a:graphicData uri="http://schemas.openxmlformats.org/drawingml/2006/table">
            <a:tbl>
              <a:tblPr firstRow="1" bandRow="1">
                <a:tableStyleId>{5C22544A-7EE6-4342-B048-85BDC9FD1C3A}</a:tableStyleId>
              </a:tblPr>
              <a:tblGrid>
                <a:gridCol w="4390962">
                  <a:extLst>
                    <a:ext uri="{9D8B030D-6E8A-4147-A177-3AD203B41FA5}">
                      <a16:colId xmlns:a16="http://schemas.microsoft.com/office/drawing/2014/main" val="1687990722"/>
                    </a:ext>
                  </a:extLst>
                </a:gridCol>
                <a:gridCol w="1166876">
                  <a:extLst>
                    <a:ext uri="{9D8B030D-6E8A-4147-A177-3AD203B41FA5}">
                      <a16:colId xmlns:a16="http://schemas.microsoft.com/office/drawing/2014/main" val="771973543"/>
                    </a:ext>
                  </a:extLst>
                </a:gridCol>
                <a:gridCol w="1371600">
                  <a:extLst>
                    <a:ext uri="{9D8B030D-6E8A-4147-A177-3AD203B41FA5}">
                      <a16:colId xmlns:a16="http://schemas.microsoft.com/office/drawing/2014/main" val="2839859591"/>
                    </a:ext>
                  </a:extLst>
                </a:gridCol>
                <a:gridCol w="1300163">
                  <a:extLst>
                    <a:ext uri="{9D8B030D-6E8A-4147-A177-3AD203B41FA5}">
                      <a16:colId xmlns:a16="http://schemas.microsoft.com/office/drawing/2014/main" val="642551277"/>
                    </a:ext>
                  </a:extLst>
                </a:gridCol>
              </a:tblGrid>
              <a:tr h="451406">
                <a:tc>
                  <a:txBody>
                    <a:bodyPr/>
                    <a:lstStyle/>
                    <a:p>
                      <a:r>
                        <a:rPr lang="en-US" dirty="0"/>
                        <a:t>Classifier</a:t>
                      </a:r>
                    </a:p>
                  </a:txBody>
                  <a:tcPr>
                    <a:solidFill>
                      <a:srgbClr val="57093B"/>
                    </a:solidFill>
                  </a:tcPr>
                </a:tc>
                <a:tc>
                  <a:txBody>
                    <a:bodyPr/>
                    <a:lstStyle/>
                    <a:p>
                      <a:r>
                        <a:rPr lang="en-US" dirty="0"/>
                        <a:t>Precision</a:t>
                      </a:r>
                    </a:p>
                  </a:txBody>
                  <a:tcPr>
                    <a:solidFill>
                      <a:srgbClr val="57093B"/>
                    </a:solidFill>
                  </a:tcPr>
                </a:tc>
                <a:tc>
                  <a:txBody>
                    <a:bodyPr/>
                    <a:lstStyle/>
                    <a:p>
                      <a:r>
                        <a:rPr lang="en-US" dirty="0"/>
                        <a:t>Recall </a:t>
                      </a:r>
                    </a:p>
                  </a:txBody>
                  <a:tcPr>
                    <a:solidFill>
                      <a:srgbClr val="57093B"/>
                    </a:solidFill>
                  </a:tcPr>
                </a:tc>
                <a:tc>
                  <a:txBody>
                    <a:bodyPr/>
                    <a:lstStyle/>
                    <a:p>
                      <a:r>
                        <a:rPr lang="en-US" dirty="0"/>
                        <a:t>F1 - Score</a:t>
                      </a:r>
                    </a:p>
                  </a:txBody>
                  <a:tcPr>
                    <a:solidFill>
                      <a:srgbClr val="57093B"/>
                    </a:solidFill>
                  </a:tcPr>
                </a:tc>
                <a:extLst>
                  <a:ext uri="{0D108BD9-81ED-4DB2-BD59-A6C34878D82A}">
                    <a16:rowId xmlns:a16="http://schemas.microsoft.com/office/drawing/2014/main" val="2667749196"/>
                  </a:ext>
                </a:extLst>
              </a:tr>
              <a:tr h="451406">
                <a:tc>
                  <a:txBody>
                    <a:bodyPr/>
                    <a:lstStyle/>
                    <a:p>
                      <a:r>
                        <a:rPr lang="en-US" sz="1400" dirty="0">
                          <a:solidFill>
                            <a:schemeClr val="bg1"/>
                          </a:solidFill>
                        </a:rPr>
                        <a:t>Logistic regression </a:t>
                      </a:r>
                    </a:p>
                  </a:txBody>
                  <a:tcPr>
                    <a:solidFill>
                      <a:schemeClr val="tx1">
                        <a:lumMod val="65000"/>
                        <a:lumOff val="35000"/>
                      </a:schemeClr>
                    </a:solidFill>
                  </a:tcPr>
                </a:tc>
                <a:tc>
                  <a:txBody>
                    <a:bodyPr/>
                    <a:lstStyle/>
                    <a:p>
                      <a:pPr algn="ctr"/>
                      <a:r>
                        <a:rPr lang="en-US" sz="1600" dirty="0">
                          <a:solidFill>
                            <a:schemeClr val="bg1"/>
                          </a:solidFill>
                        </a:rPr>
                        <a:t>47.30%</a:t>
                      </a:r>
                    </a:p>
                  </a:txBody>
                  <a:tcPr>
                    <a:solidFill>
                      <a:schemeClr val="tx1">
                        <a:lumMod val="65000"/>
                        <a:lumOff val="35000"/>
                      </a:schemeClr>
                    </a:solidFill>
                  </a:tcPr>
                </a:tc>
                <a:tc>
                  <a:txBody>
                    <a:bodyPr/>
                    <a:lstStyle/>
                    <a:p>
                      <a:pPr algn="ctr"/>
                      <a:r>
                        <a:rPr lang="en-US" sz="1600" dirty="0">
                          <a:solidFill>
                            <a:schemeClr val="bg1"/>
                          </a:solidFill>
                        </a:rPr>
                        <a:t>82.10%</a:t>
                      </a:r>
                    </a:p>
                  </a:txBody>
                  <a:tcPr>
                    <a:solidFill>
                      <a:schemeClr val="tx1">
                        <a:lumMod val="65000"/>
                        <a:lumOff val="35000"/>
                      </a:schemeClr>
                    </a:solidFill>
                  </a:tcPr>
                </a:tc>
                <a:tc>
                  <a:txBody>
                    <a:bodyPr/>
                    <a:lstStyle/>
                    <a:p>
                      <a:pPr algn="ctr"/>
                      <a:r>
                        <a:rPr lang="en-US" sz="1600" dirty="0">
                          <a:solidFill>
                            <a:schemeClr val="bg1"/>
                          </a:solidFill>
                        </a:rPr>
                        <a:t>60.02%</a:t>
                      </a:r>
                    </a:p>
                  </a:txBody>
                  <a:tcPr>
                    <a:solidFill>
                      <a:schemeClr val="tx1">
                        <a:lumMod val="65000"/>
                        <a:lumOff val="35000"/>
                      </a:schemeClr>
                    </a:solidFill>
                  </a:tcPr>
                </a:tc>
                <a:extLst>
                  <a:ext uri="{0D108BD9-81ED-4DB2-BD59-A6C34878D82A}">
                    <a16:rowId xmlns:a16="http://schemas.microsoft.com/office/drawing/2014/main" val="2928542430"/>
                  </a:ext>
                </a:extLst>
              </a:tr>
              <a:tr h="45140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dirty="0"/>
                        <a:t>Stochastic Gradient Descent (SGD) Classifier</a:t>
                      </a:r>
                    </a:p>
                    <a:p>
                      <a:endParaRPr lang="en-US" dirty="0"/>
                    </a:p>
                  </a:txBody>
                  <a:tcPr/>
                </a:tc>
                <a:tc>
                  <a:txBody>
                    <a:bodyPr/>
                    <a:lstStyle/>
                    <a:p>
                      <a:pPr algn="ctr"/>
                      <a:r>
                        <a:rPr lang="en-US" sz="1600" dirty="0"/>
                        <a:t>45.73%</a:t>
                      </a:r>
                    </a:p>
                  </a:txBody>
                  <a:tcPr/>
                </a:tc>
                <a:tc>
                  <a:txBody>
                    <a:bodyPr/>
                    <a:lstStyle/>
                    <a:p>
                      <a:pPr algn="ctr"/>
                      <a:r>
                        <a:rPr lang="en-US" sz="1600" dirty="0"/>
                        <a:t>88.35%</a:t>
                      </a:r>
                    </a:p>
                  </a:txBody>
                  <a:tcPr/>
                </a:tc>
                <a:tc>
                  <a:txBody>
                    <a:bodyPr/>
                    <a:lstStyle/>
                    <a:p>
                      <a:pPr algn="ctr"/>
                      <a:r>
                        <a:rPr lang="en-US" sz="1600" dirty="0"/>
                        <a:t>60.27%</a:t>
                      </a:r>
                    </a:p>
                  </a:txBody>
                  <a:tcPr/>
                </a:tc>
                <a:extLst>
                  <a:ext uri="{0D108BD9-81ED-4DB2-BD59-A6C34878D82A}">
                    <a16:rowId xmlns:a16="http://schemas.microsoft.com/office/drawing/2014/main" val="3078098391"/>
                  </a:ext>
                </a:extLst>
              </a:tr>
              <a:tr h="45140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dirty="0"/>
                        <a:t>XGB Classifier</a:t>
                      </a:r>
                    </a:p>
                    <a:p>
                      <a:endParaRPr lang="en-US" dirty="0"/>
                    </a:p>
                  </a:txBody>
                  <a:tcPr/>
                </a:tc>
                <a:tc>
                  <a:txBody>
                    <a:bodyPr/>
                    <a:lstStyle/>
                    <a:p>
                      <a:pPr algn="ctr"/>
                      <a:r>
                        <a:rPr lang="en-US" sz="1600" dirty="0"/>
                        <a:t>53.65%</a:t>
                      </a:r>
                    </a:p>
                  </a:txBody>
                  <a:tcPr/>
                </a:tc>
                <a:tc>
                  <a:txBody>
                    <a:bodyPr/>
                    <a:lstStyle/>
                    <a:p>
                      <a:pPr algn="ctr"/>
                      <a:r>
                        <a:rPr lang="en-US" sz="1600" dirty="0"/>
                        <a:t>48.01%</a:t>
                      </a:r>
                    </a:p>
                  </a:txBody>
                  <a:tcPr/>
                </a:tc>
                <a:tc>
                  <a:txBody>
                    <a:bodyPr/>
                    <a:lstStyle/>
                    <a:p>
                      <a:pPr algn="ctr"/>
                      <a:r>
                        <a:rPr lang="en-US" sz="1600" dirty="0"/>
                        <a:t>50.67%</a:t>
                      </a:r>
                    </a:p>
                  </a:txBody>
                  <a:tcPr/>
                </a:tc>
                <a:extLst>
                  <a:ext uri="{0D108BD9-81ED-4DB2-BD59-A6C34878D82A}">
                    <a16:rowId xmlns:a16="http://schemas.microsoft.com/office/drawing/2014/main" val="3172693429"/>
                  </a:ext>
                </a:extLst>
              </a:tr>
              <a:tr h="45140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dirty="0"/>
                        <a:t>K-Nearest Neighbors Classifier</a:t>
                      </a:r>
                    </a:p>
                    <a:p>
                      <a:endParaRPr lang="en-US" dirty="0"/>
                    </a:p>
                  </a:txBody>
                  <a:tcPr/>
                </a:tc>
                <a:tc>
                  <a:txBody>
                    <a:bodyPr/>
                    <a:lstStyle/>
                    <a:p>
                      <a:pPr algn="ctr"/>
                      <a:r>
                        <a:rPr lang="en-US" sz="1600" dirty="0"/>
                        <a:t>52.26%</a:t>
                      </a:r>
                    </a:p>
                  </a:txBody>
                  <a:tcPr/>
                </a:tc>
                <a:tc>
                  <a:txBody>
                    <a:bodyPr/>
                    <a:lstStyle/>
                    <a:p>
                      <a:pPr algn="ctr"/>
                      <a:r>
                        <a:rPr lang="en-US" sz="1600" dirty="0"/>
                        <a:t>52.55%</a:t>
                      </a:r>
                    </a:p>
                  </a:txBody>
                  <a:tcPr/>
                </a:tc>
                <a:tc>
                  <a:txBody>
                    <a:bodyPr/>
                    <a:lstStyle/>
                    <a:p>
                      <a:pPr algn="ctr"/>
                      <a:r>
                        <a:rPr lang="en-US" sz="1600" dirty="0"/>
                        <a:t>52.40%</a:t>
                      </a:r>
                    </a:p>
                  </a:txBody>
                  <a:tcPr/>
                </a:tc>
                <a:extLst>
                  <a:ext uri="{0D108BD9-81ED-4DB2-BD59-A6C34878D82A}">
                    <a16:rowId xmlns:a16="http://schemas.microsoft.com/office/drawing/2014/main" val="3687237534"/>
                  </a:ext>
                </a:extLst>
              </a:tr>
              <a:tr h="45140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dirty="0"/>
                        <a:t>Support Vector Classifier (SVC)</a:t>
                      </a:r>
                    </a:p>
                    <a:p>
                      <a:endParaRPr lang="en-US" dirty="0"/>
                    </a:p>
                  </a:txBody>
                  <a:tcPr/>
                </a:tc>
                <a:tc>
                  <a:txBody>
                    <a:bodyPr/>
                    <a:lstStyle/>
                    <a:p>
                      <a:pPr algn="ctr"/>
                      <a:r>
                        <a:rPr lang="en-US" sz="1600" dirty="0"/>
                        <a:t>46.19%</a:t>
                      </a:r>
                    </a:p>
                  </a:txBody>
                  <a:tcPr/>
                </a:tc>
                <a:tc>
                  <a:txBody>
                    <a:bodyPr/>
                    <a:lstStyle/>
                    <a:p>
                      <a:pPr algn="ctr"/>
                      <a:r>
                        <a:rPr lang="en-US" sz="1600" dirty="0"/>
                        <a:t>75.85%</a:t>
                      </a:r>
                    </a:p>
                  </a:txBody>
                  <a:tcPr/>
                </a:tc>
                <a:tc>
                  <a:txBody>
                    <a:bodyPr/>
                    <a:lstStyle/>
                    <a:p>
                      <a:pPr algn="ctr"/>
                      <a:r>
                        <a:rPr lang="en-US" sz="1600" dirty="0"/>
                        <a:t>57.41%</a:t>
                      </a:r>
                    </a:p>
                  </a:txBody>
                  <a:tcPr/>
                </a:tc>
                <a:extLst>
                  <a:ext uri="{0D108BD9-81ED-4DB2-BD59-A6C34878D82A}">
                    <a16:rowId xmlns:a16="http://schemas.microsoft.com/office/drawing/2014/main" val="4029267784"/>
                  </a:ext>
                </a:extLst>
              </a:tr>
              <a:tr h="45140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dirty="0"/>
                        <a:t>Naive Bayes (Gaussian NB)</a:t>
                      </a:r>
                    </a:p>
                    <a:p>
                      <a:endParaRPr lang="en-US" dirty="0"/>
                    </a:p>
                  </a:txBody>
                  <a:tcPr/>
                </a:tc>
                <a:tc>
                  <a:txBody>
                    <a:bodyPr/>
                    <a:lstStyle/>
                    <a:p>
                      <a:pPr algn="ctr"/>
                      <a:r>
                        <a:rPr lang="en-US" sz="1600" dirty="0"/>
                        <a:t>49.90%</a:t>
                      </a:r>
                    </a:p>
                  </a:txBody>
                  <a:tcPr/>
                </a:tc>
                <a:tc>
                  <a:txBody>
                    <a:bodyPr/>
                    <a:lstStyle/>
                    <a:p>
                      <a:pPr algn="ctr"/>
                      <a:r>
                        <a:rPr lang="en-US" sz="1600" dirty="0"/>
                        <a:t>75.56%</a:t>
                      </a:r>
                    </a:p>
                  </a:txBody>
                  <a:tcPr/>
                </a:tc>
                <a:tc>
                  <a:txBody>
                    <a:bodyPr/>
                    <a:lstStyle/>
                    <a:p>
                      <a:pPr algn="ctr"/>
                      <a:r>
                        <a:rPr lang="en-US" sz="1600" dirty="0"/>
                        <a:t>60.11%</a:t>
                      </a:r>
                    </a:p>
                  </a:txBody>
                  <a:tcPr/>
                </a:tc>
                <a:extLst>
                  <a:ext uri="{0D108BD9-81ED-4DB2-BD59-A6C34878D82A}">
                    <a16:rowId xmlns:a16="http://schemas.microsoft.com/office/drawing/2014/main" val="3380998896"/>
                  </a:ext>
                </a:extLst>
              </a:tr>
              <a:tr h="45140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dirty="0"/>
                        <a:t>Decision Tree Classifier</a:t>
                      </a:r>
                    </a:p>
                    <a:p>
                      <a:endParaRPr lang="en-US" dirty="0"/>
                    </a:p>
                  </a:txBody>
                  <a:tcPr/>
                </a:tc>
                <a:tc>
                  <a:txBody>
                    <a:bodyPr/>
                    <a:lstStyle/>
                    <a:p>
                      <a:pPr algn="ctr"/>
                      <a:r>
                        <a:rPr lang="en-US" sz="1600" dirty="0"/>
                        <a:t>48.09%</a:t>
                      </a:r>
                    </a:p>
                  </a:txBody>
                  <a:tcPr/>
                </a:tc>
                <a:tc>
                  <a:txBody>
                    <a:bodyPr/>
                    <a:lstStyle/>
                    <a:p>
                      <a:pPr algn="ctr"/>
                      <a:r>
                        <a:rPr lang="en-US" sz="1600" dirty="0"/>
                        <a:t>46.59%</a:t>
                      </a:r>
                    </a:p>
                  </a:txBody>
                  <a:tcPr/>
                </a:tc>
                <a:tc>
                  <a:txBody>
                    <a:bodyPr/>
                    <a:lstStyle/>
                    <a:p>
                      <a:pPr algn="ctr"/>
                      <a:r>
                        <a:rPr lang="en-US" sz="1600" dirty="0"/>
                        <a:t>47.33%</a:t>
                      </a:r>
                    </a:p>
                  </a:txBody>
                  <a:tcPr/>
                </a:tc>
                <a:extLst>
                  <a:ext uri="{0D108BD9-81ED-4DB2-BD59-A6C34878D82A}">
                    <a16:rowId xmlns:a16="http://schemas.microsoft.com/office/drawing/2014/main" val="1230229377"/>
                  </a:ext>
                </a:extLst>
              </a:tr>
              <a:tr h="451406">
                <a:tc>
                  <a:txBody>
                    <a:bodyPr/>
                    <a:lstStyle/>
                    <a:p>
                      <a:r>
                        <a:rPr lang="en-US" dirty="0"/>
                        <a:t>Random Forest</a:t>
                      </a:r>
                    </a:p>
                  </a:txBody>
                  <a:tcPr/>
                </a:tc>
                <a:tc>
                  <a:txBody>
                    <a:bodyPr/>
                    <a:lstStyle/>
                    <a:p>
                      <a:pPr algn="ctr"/>
                      <a:r>
                        <a:rPr lang="en-US" sz="1600" dirty="0"/>
                        <a:t>59.09%</a:t>
                      </a:r>
                    </a:p>
                  </a:txBody>
                  <a:tcPr/>
                </a:tc>
                <a:tc>
                  <a:txBody>
                    <a:bodyPr/>
                    <a:lstStyle/>
                    <a:p>
                      <a:pPr algn="ctr"/>
                      <a:r>
                        <a:rPr lang="en-US" sz="1600" dirty="0"/>
                        <a:t>44.31%</a:t>
                      </a:r>
                    </a:p>
                  </a:txBody>
                  <a:tcPr/>
                </a:tc>
                <a:tc>
                  <a:txBody>
                    <a:bodyPr/>
                    <a:lstStyle/>
                    <a:p>
                      <a:pPr algn="ctr"/>
                      <a:r>
                        <a:rPr lang="en-US" sz="1600" dirty="0"/>
                        <a:t>50.64%</a:t>
                      </a:r>
                    </a:p>
                  </a:txBody>
                  <a:tcPr/>
                </a:tc>
                <a:extLst>
                  <a:ext uri="{0D108BD9-81ED-4DB2-BD59-A6C34878D82A}">
                    <a16:rowId xmlns:a16="http://schemas.microsoft.com/office/drawing/2014/main" val="1441862289"/>
                  </a:ext>
                </a:extLst>
              </a:tr>
            </a:tbl>
          </a:graphicData>
        </a:graphic>
      </p:graphicFrame>
    </p:spTree>
    <p:extLst>
      <p:ext uri="{BB962C8B-B14F-4D97-AF65-F5344CB8AC3E}">
        <p14:creationId xmlns:p14="http://schemas.microsoft.com/office/powerpoint/2010/main" val="22821629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4E49D-1E6A-58F9-DD4E-DA628EE1FA17}"/>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07A8FC9-77B9-1C70-DE53-22757A016905}"/>
              </a:ext>
            </a:extLst>
          </p:cNvPr>
          <p:cNvSpPr txBox="1">
            <a:spLocks/>
          </p:cNvSpPr>
          <p:nvPr/>
        </p:nvSpPr>
        <p:spPr>
          <a:xfrm>
            <a:off x="0" y="0"/>
            <a:ext cx="9144000" cy="6858000"/>
          </a:xfrm>
          <a:prstGeom prst="rect">
            <a:avLst/>
          </a:prstGeom>
          <a:solidFill>
            <a:srgbClr val="57093B"/>
          </a:solidFill>
        </p:spPr>
        <p:style>
          <a:lnRef idx="0">
            <a:schemeClr val="accent6"/>
          </a:lnRef>
          <a:fillRef idx="3">
            <a:schemeClr val="accent6"/>
          </a:fillRef>
          <a:effectRef idx="3">
            <a:schemeClr val="accent6"/>
          </a:effectRef>
          <a:fontRef idx="minor">
            <a:schemeClr val="lt1"/>
          </a:fontRef>
        </p:style>
        <p:txBody>
          <a:bodyPr vert="horz" lIns="91440" tIns="45720" rIns="91440" bIns="45720" rtlCol="0" anchor="ctr">
            <a:normAutofit/>
          </a:bodyPr>
          <a:lstStyle>
            <a:lvl1pPr algn="ctr" defTabSz="4572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endParaRPr lang="en-US" sz="2400" dirty="0">
              <a:latin typeface="Barclaycard Co" panose="020B0503060202020204" pitchFamily="34" charset="0"/>
            </a:endParaRPr>
          </a:p>
        </p:txBody>
      </p:sp>
      <p:sp>
        <p:nvSpPr>
          <p:cNvPr id="2" name="Title 1">
            <a:extLst>
              <a:ext uri="{FF2B5EF4-FFF2-40B4-BE49-F238E27FC236}">
                <a16:creationId xmlns:a16="http://schemas.microsoft.com/office/drawing/2014/main" id="{6BC140B6-2364-12E5-067D-FE518CCAD8A6}"/>
              </a:ext>
            </a:extLst>
          </p:cNvPr>
          <p:cNvSpPr>
            <a:spLocks noGrp="1"/>
          </p:cNvSpPr>
          <p:nvPr>
            <p:ph type="title"/>
          </p:nvPr>
        </p:nvSpPr>
        <p:spPr>
          <a:xfrm>
            <a:off x="1243012" y="3138616"/>
            <a:ext cx="6657975" cy="580768"/>
          </a:xfrm>
          <a:solidFill>
            <a:schemeClr val="tx1">
              <a:lumMod val="85000"/>
              <a:lumOff val="15000"/>
            </a:schemeClr>
          </a:solidFill>
        </p:spPr>
        <p:style>
          <a:lnRef idx="0">
            <a:schemeClr val="accent6"/>
          </a:lnRef>
          <a:fillRef idx="3">
            <a:schemeClr val="accent6"/>
          </a:fillRef>
          <a:effectRef idx="3">
            <a:schemeClr val="accent6"/>
          </a:effectRef>
          <a:fontRef idx="minor">
            <a:schemeClr val="lt1"/>
          </a:fontRef>
        </p:style>
        <p:txBody>
          <a:bodyPr>
            <a:normAutofit/>
          </a:bodyPr>
          <a:lstStyle/>
          <a:p>
            <a:r>
              <a:rPr lang="en-US" sz="2400" dirty="0">
                <a:solidFill>
                  <a:schemeClr val="bg1"/>
                </a:solidFill>
              </a:rPr>
              <a:t>Thank you .</a:t>
            </a:r>
            <a:endParaRPr lang="en-US" sz="2400" dirty="0">
              <a:solidFill>
                <a:schemeClr val="bg1"/>
              </a:solidFill>
              <a:latin typeface="Barclaycard Co" panose="020B0503060202020204" pitchFamily="34" charset="0"/>
            </a:endParaRPr>
          </a:p>
        </p:txBody>
      </p:sp>
    </p:spTree>
    <p:extLst>
      <p:ext uri="{BB962C8B-B14F-4D97-AF65-F5344CB8AC3E}">
        <p14:creationId xmlns:p14="http://schemas.microsoft.com/office/powerpoint/2010/main" val="4997570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2603</TotalTime>
  <Words>1760</Words>
  <Application>Microsoft Office PowerPoint</Application>
  <PresentationFormat>On-screen Show (4:3)</PresentationFormat>
  <Paragraphs>143</Paragraphs>
  <Slides>21</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Aptos Display</vt:lpstr>
      <vt:lpstr>Arial</vt:lpstr>
      <vt:lpstr>Barclaycard Co</vt:lpstr>
      <vt:lpstr>Calibri</vt:lpstr>
      <vt:lpstr>Wingdings</vt:lpstr>
      <vt:lpstr>Office Theme</vt:lpstr>
      <vt:lpstr>PowerPoint Presentation</vt:lpstr>
      <vt:lpstr>About Connect Tel</vt:lpstr>
      <vt:lpstr>PowerPoint Presentation</vt:lpstr>
      <vt:lpstr>Univariate Analysis on Numerical Data</vt:lpstr>
      <vt:lpstr>Bivariate  Analysis on Numerical Data</vt:lpstr>
      <vt:lpstr>Numerical EDA Analysis </vt:lpstr>
      <vt:lpstr>Numerical Data Coorelation </vt:lpstr>
      <vt:lpstr>Univariate  Analysis on Categorical Data</vt:lpstr>
      <vt:lpstr>Bivariate  Analysis on Categorical Data</vt:lpstr>
      <vt:lpstr>Multivariate  Analysis on Categorical Data</vt:lpstr>
      <vt:lpstr>Categorical EDA Analysis </vt:lpstr>
      <vt:lpstr>Categorical EDA Analysis         cont’d </vt:lpstr>
      <vt:lpstr>Customers with higher monthly charges are more likely to churn.  Offering discounts or loyalty programs could reduce churn.</vt:lpstr>
      <vt:lpstr>EDA Conclusion/Recommendation</vt:lpstr>
      <vt:lpstr>Modelling/ML</vt:lpstr>
      <vt:lpstr>Results on Logistic Regression on different class weights . (0:1 , 1:3) Proves to be the best in balance between true positives  and false positives </vt:lpstr>
      <vt:lpstr>Other classifiers  Fine-tuned with class weights (0:1 , 1:3) </vt:lpstr>
      <vt:lpstr>Modelling Summary </vt:lpstr>
      <vt:lpstr>Modelling Summary cont’d </vt:lpstr>
      <vt:lpstr>PowerPoint Presentation</vt:lpstr>
      <vt:lpstr>Thank you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Ndumbi Kimani</cp:lastModifiedBy>
  <cp:revision>2</cp:revision>
  <dcterms:created xsi:type="dcterms:W3CDTF">2013-01-27T09:14:16Z</dcterms:created>
  <dcterms:modified xsi:type="dcterms:W3CDTF">2024-11-08T14:53:14Z</dcterms:modified>
  <cp:category/>
</cp:coreProperties>
</file>